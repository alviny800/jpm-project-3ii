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sldIdLst>
    <p:sldId id="256" r:id="rId2"/>
    <p:sldId id="270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944EC-5CC3-D9EA-751B-64BDE6623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318764-D420-0F73-7A11-6A6BF27023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3EF050-67A4-880E-E3DF-1D969C2417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C38784-12ED-E7A8-D3BB-D6133EFEFA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2750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315A"/>
          </a:solidFill>
          <a:ln w="12700">
            <a:solidFill>
              <a:srgbClr val="143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JPM Project 3ii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046720" y="292608"/>
            <a:ext cx="3474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D7E5FF"/>
                </a:solidFill>
              </a:rPr>
              <a:t>Mentor Weekly Update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58368" y="1965960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315A"/>
                </a:solidFill>
              </a:rPr>
              <a:t>Codebase Workflow Validation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76656" y="2706624"/>
            <a:ext cx="10789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475569"/>
                </a:solidFill>
              </a:rPr>
              <a:t>Corporate-action election arbitrage - Alvin &amp; Xiangyu</a:t>
            </a:r>
          </a:p>
        </p:txBody>
      </p:sp>
      <p:sp>
        <p:nvSpPr>
          <p:cNvPr id="8" name="Shape 6"/>
          <p:cNvSpPr/>
          <p:nvPr/>
        </p:nvSpPr>
        <p:spPr>
          <a:xfrm>
            <a:off x="676656" y="388620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F7F9FC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59536" y="4059936"/>
            <a:ext cx="3063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63EB"/>
                </a:solidFill>
              </a:rPr>
              <a:t>This week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59536" y="4379976"/>
            <a:ext cx="3035808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Scale the validated SEC → Claude → WRDS → model pipeline to the full US election universe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53128" y="388620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F7F9FC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36008" y="4059936"/>
            <a:ext cx="3063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63EB"/>
                </a:solidFill>
              </a:rPr>
              <a:t>Test case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636008" y="4379976"/>
            <a:ext cx="3035808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Andeavor / Marathon Petroleum, announced Apr. 30, 2018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0" y="388620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F7F9FC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412480" y="4059936"/>
            <a:ext cx="3063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63EB"/>
                </a:solidFill>
              </a:rPr>
              <a:t>Control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412480" y="4379976"/>
            <a:ext cx="3035808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Celgene / BMY confirms the classifier blocks fixed-consideration deals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94944" y="591616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July 10,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BC698-D78D-5BE5-2F54-DE8963F3A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FDCAABBF-4457-3F23-C290-0D04E56C65EA}"/>
              </a:ext>
            </a:extLst>
          </p:cNvPr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D5BFF"/>
          </a:solidFill>
          <a:ln w="12700">
            <a:solidFill>
              <a:srgbClr val="2D5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89E5DE7-FB3D-25E5-4EED-850CDC2D2C51}"/>
              </a:ext>
            </a:extLst>
          </p:cNvPr>
          <p:cNvSpPr/>
          <p:nvPr/>
        </p:nvSpPr>
        <p:spPr>
          <a:xfrm>
            <a:off x="685800" y="9601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2B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Weekly Update</a:t>
            </a:r>
            <a:endParaRPr lang="en-US" sz="24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EC1B190F-C32F-35EF-F900-6ABDBA393A82}"/>
              </a:ext>
            </a:extLst>
          </p:cNvPr>
          <p:cNvSpPr/>
          <p:nvPr/>
        </p:nvSpPr>
        <p:spPr>
          <a:xfrm>
            <a:off x="685800" y="2797093"/>
            <a:ext cx="10607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r>
              <a:rPr lang="en-US" sz="1200" b="1" dirty="0"/>
              <a:t>Accomplished this week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Scaled the validated pipeline from one smoke-test deal to the full US election universe: 317 completed cash-or-stock deals, ~283 SEC-reachable</a:t>
            </a:r>
          </a:p>
          <a:p>
            <a:pPr marL="628650" indent="-171450">
              <a:buFont typeface="Arial" panose="020B0604020202020204" pitchFamily="34" charset="0"/>
              <a:buChar char="•"/>
            </a:pPr>
            <a:r>
              <a:rPr lang="en-US" sz="1200" dirty="0"/>
              <a:t>Rebuilt company → CIK resolution for delisted targets via EDGAR full-text search + hand-verified overrides (prior ticker table missed ~96% of acquired targets)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Anchored results-filing selection on the authoritative CRSP close date; fixed a bug where the deal-announcement 8-K out-scored the actual results 8-K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Captured the realized election-demand label (previously “not found”) by deriving it from share counts, aggregate cash, or the proration factor — ~80% capture on the validation sample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Validated Claude (Sonnet 5) extraction — correct on known deals, no fabricated numbers; added batch processing (~50% cheaper) with a hard cost cap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highlight>
                  <a:srgbClr val="FFFF00"/>
                </a:highlight>
              </a:rPr>
              <a:t>Ran end-to-end testing of Edgar Extraction + Claude Extraction for 12 deals. Now expanding to entire corpus.</a:t>
            </a:r>
          </a:p>
          <a:p>
            <a:r>
              <a:rPr lang="en-US" sz="1200" b="1" dirty="0"/>
              <a:t>In progress / to do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Full SEC download running across the ~283-deal universe (unattended); next: batch Claude extraction under a fixed cost cap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Join WRDS market data + ETF/passive ownership onto each extracted event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Run EDA and fit the structural p_active(spread) model on the realized-demand labels</a:t>
            </a:r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0E6C79C3-950B-DE6B-729C-F12097A5F167}"/>
              </a:ext>
            </a:extLst>
          </p:cNvPr>
          <p:cNvSpPr/>
          <p:nvPr/>
        </p:nvSpPr>
        <p:spPr>
          <a:xfrm>
            <a:off x="685800" y="6126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JPM Project 3ii</a:t>
            </a:r>
            <a:endParaRPr lang="en-US" sz="900" dirty="0"/>
          </a:p>
        </p:txBody>
      </p:sp>
      <p:sp>
        <p:nvSpPr>
          <p:cNvPr id="38" name="Text 34">
            <a:extLst>
              <a:ext uri="{FF2B5EF4-FFF2-40B4-BE49-F238E27FC236}">
                <a16:creationId xmlns:a16="http://schemas.microsoft.com/office/drawing/2014/main" id="{13BC52B5-1BFE-F7A8-7C57-07D5AB46CA12}"/>
              </a:ext>
            </a:extLst>
          </p:cNvPr>
          <p:cNvSpPr/>
          <p:nvPr/>
        </p:nvSpPr>
        <p:spPr>
          <a:xfrm>
            <a:off x="792327" y="4060907"/>
            <a:ext cx="10607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494284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315A"/>
          </a:solidFill>
          <a:ln w="12700">
            <a:solidFill>
              <a:srgbClr val="143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315A"/>
                </a:solidFill>
              </a:rPr>
              <a:t>What changed this week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12064" y="923544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The update is about implementation proof, not only strategy intuition.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68580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475569"/>
                </a:solidFill>
              </a:rPr>
              <a:t>JPM Project 3ii · Weekly workflow validation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475569"/>
                </a:solidFill>
              </a:rPr>
              <a:t>2 / 12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822960" y="1645920"/>
            <a:ext cx="10469880" cy="777240"/>
          </a:xfrm>
          <a:prstGeom prst="roundRect">
            <a:avLst>
              <a:gd name="adj" fmla="val 9412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60704" y="182880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</a:rPr>
              <a:t>Pipeline scope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154680" y="1828800"/>
            <a:ext cx="78181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M&amp;A export → SEC evidence → Claude fields → WRDS joins → model-ready row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2761488"/>
            <a:ext cx="10469880" cy="777240"/>
          </a:xfrm>
          <a:prstGeom prst="roundRect">
            <a:avLst>
              <a:gd name="adj" fmla="val 9412"/>
            </a:avLst>
          </a:prstGeom>
          <a:solidFill>
            <a:srgbClr val="EAF2FF"/>
          </a:solidFill>
          <a:ln w="12700">
            <a:solidFill>
              <a:srgbClr val="BB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60704" y="294436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</a:rPr>
              <a:t>Validation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154680" y="2944368"/>
            <a:ext cx="78181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Mechanics proven on Andeavor/MPC (Steps 1–8); this week scaled to the ~283-deal universe with the realized-election label now captured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3877056"/>
            <a:ext cx="10469880" cy="777240"/>
          </a:xfrm>
          <a:prstGeom prst="roundRect">
            <a:avLst>
              <a:gd name="adj" fmla="val 9412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60704" y="4059936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</a:rPr>
              <a:t>Deliverable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154680" y="4059936"/>
            <a:ext cx="78181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Auditable intermediate CSV/JSONL files plus v1 prediction and hedge row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315A"/>
          </a:solidFill>
          <a:ln w="12700">
            <a:solidFill>
              <a:srgbClr val="143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315A"/>
                </a:solidFill>
              </a:rPr>
              <a:t>Codebase workflow: one event row from four data paths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12064" y="923544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The deck is organized around code modules, inputs, outputs, and validation checks.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68580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475569"/>
                </a:solidFill>
              </a:rPr>
              <a:t>JPM Project 3ii · Weekly workflow validation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475569"/>
                </a:solidFill>
              </a:rPr>
              <a:t>3 / 12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1920240" y="2029968"/>
            <a:ext cx="182880" cy="27432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721608" y="2029968"/>
            <a:ext cx="182880" cy="27432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522976" y="2029968"/>
            <a:ext cx="182880" cy="27432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24344" y="2029968"/>
            <a:ext cx="182880" cy="27432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125712" y="2029968"/>
            <a:ext cx="182880" cy="27432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94360" y="1828800"/>
            <a:ext cx="1298448" cy="676656"/>
          </a:xfrm>
          <a:prstGeom prst="roundRect">
            <a:avLst>
              <a:gd name="adj" fmla="val 10811"/>
            </a:avLst>
          </a:prstGeom>
          <a:solidFill>
            <a:srgbClr val="EAF2FF"/>
          </a:solidFill>
          <a:ln w="12700">
            <a:solidFill>
              <a:srgbClr val="BB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76656" y="1947672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4315A"/>
                </a:solidFill>
              </a:rPr>
              <a:t>M&amp;A CSV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676656" y="2185416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475569"/>
                </a:solidFill>
              </a:rPr>
              <a:t>candidate deals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2395728" y="1828800"/>
            <a:ext cx="1298448" cy="676656"/>
          </a:xfrm>
          <a:prstGeom prst="roundRect">
            <a:avLst>
              <a:gd name="adj" fmla="val 10811"/>
            </a:avLst>
          </a:prstGeom>
          <a:solidFill>
            <a:srgbClr val="EAF2FF"/>
          </a:solidFill>
          <a:ln w="12700">
            <a:solidFill>
              <a:srgbClr val="BB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478024" y="1947672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4315A"/>
                </a:solidFill>
              </a:rPr>
              <a:t>SEC locator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2478024" y="2185416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475569"/>
                </a:solidFill>
              </a:rPr>
              <a:t>download_ma_edgar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4197096" y="1828800"/>
            <a:ext cx="1298448" cy="676656"/>
          </a:xfrm>
          <a:prstGeom prst="roundRect">
            <a:avLst>
              <a:gd name="adj" fmla="val 10811"/>
            </a:avLst>
          </a:prstGeom>
          <a:solidFill>
            <a:srgbClr val="EAF2FF"/>
          </a:solidFill>
          <a:ln w="12700">
            <a:solidFill>
              <a:srgbClr val="BB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279392" y="1947672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4315A"/>
                </a:solidFill>
              </a:rPr>
              <a:t>Claude extraction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4279392" y="2185416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475569"/>
                </a:solidFill>
              </a:rPr>
              <a:t>canonical fields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5998464" y="1828800"/>
            <a:ext cx="1298448" cy="676656"/>
          </a:xfrm>
          <a:prstGeom prst="roundRect">
            <a:avLst>
              <a:gd name="adj" fmla="val 10811"/>
            </a:avLst>
          </a:prstGeom>
          <a:solidFill>
            <a:srgbClr val="EAF2FF"/>
          </a:solidFill>
          <a:ln w="12700">
            <a:solidFill>
              <a:srgbClr val="BB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080760" y="1947672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4315A"/>
                </a:solidFill>
              </a:rPr>
              <a:t>WRDS market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6080760" y="2185416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475569"/>
                </a:solidFill>
              </a:rPr>
              <a:t>CRSP prices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7799832" y="1828800"/>
            <a:ext cx="1298448" cy="676656"/>
          </a:xfrm>
          <a:prstGeom prst="roundRect">
            <a:avLst>
              <a:gd name="adj" fmla="val 10811"/>
            </a:avLst>
          </a:prstGeom>
          <a:solidFill>
            <a:srgbClr val="EAF2FF"/>
          </a:solidFill>
          <a:ln w="12700">
            <a:solidFill>
              <a:srgbClr val="BB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882128" y="1947672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4315A"/>
                </a:solidFill>
              </a:rPr>
              <a:t>WRDS ownership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7882128" y="2185416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475569"/>
                </a:solidFill>
              </a:rPr>
              <a:t>ETF/passive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9601200" y="1828800"/>
            <a:ext cx="1298448" cy="676656"/>
          </a:xfrm>
          <a:prstGeom prst="roundRect">
            <a:avLst>
              <a:gd name="adj" fmla="val 10811"/>
            </a:avLst>
          </a:prstGeom>
          <a:solidFill>
            <a:srgbClr val="EAF2FF"/>
          </a:solidFill>
          <a:ln w="12700">
            <a:solidFill>
              <a:srgbClr val="BB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683496" y="1947672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4315A"/>
                </a:solidFill>
              </a:rPr>
              <a:t>Model builder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9683496" y="2185416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475569"/>
                </a:solidFill>
              </a:rPr>
              <a:t>EV + hedge</a:t>
            </a:r>
            <a:endParaRPr lang="en-US" sz="720" dirty="0"/>
          </a:p>
        </p:txBody>
      </p:sp>
      <p:sp>
        <p:nvSpPr>
          <p:cNvPr id="31" name="Shape 29"/>
          <p:cNvSpPr/>
          <p:nvPr/>
        </p:nvSpPr>
        <p:spPr>
          <a:xfrm>
            <a:off x="914400" y="3383280"/>
            <a:ext cx="10424160" cy="384048"/>
          </a:xfrm>
          <a:prstGeom prst="rect">
            <a:avLst/>
          </a:prstGeom>
          <a:solidFill>
            <a:srgbClr val="14315A"/>
          </a:solidFill>
          <a:ln w="12700">
            <a:solidFill>
              <a:srgbClr val="143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87552" y="3493008"/>
            <a:ext cx="2373782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b="1" dirty="0">
                <a:solidFill>
                  <a:srgbClr val="FFFFFF"/>
                </a:solidFill>
              </a:rPr>
              <a:t>Stage</a:t>
            </a:r>
            <a:endParaRPr lang="en-US" sz="890" dirty="0"/>
          </a:p>
        </p:txBody>
      </p:sp>
      <p:sp>
        <p:nvSpPr>
          <p:cNvPr id="33" name="Text 31"/>
          <p:cNvSpPr/>
          <p:nvPr/>
        </p:nvSpPr>
        <p:spPr>
          <a:xfrm>
            <a:off x="3489350" y="3493008"/>
            <a:ext cx="3937406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b="1" dirty="0">
                <a:solidFill>
                  <a:srgbClr val="FFFFFF"/>
                </a:solidFill>
              </a:rPr>
              <a:t>Primary output</a:t>
            </a:r>
            <a:endParaRPr lang="en-US" sz="890" dirty="0"/>
          </a:p>
        </p:txBody>
      </p:sp>
      <p:sp>
        <p:nvSpPr>
          <p:cNvPr id="34" name="Text 32"/>
          <p:cNvSpPr/>
          <p:nvPr/>
        </p:nvSpPr>
        <p:spPr>
          <a:xfrm>
            <a:off x="7554773" y="3493008"/>
            <a:ext cx="3728923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b="1" dirty="0">
                <a:solidFill>
                  <a:srgbClr val="FFFFFF"/>
                </a:solidFill>
              </a:rPr>
              <a:t>Validation</a:t>
            </a:r>
            <a:endParaRPr lang="en-US" sz="890" dirty="0"/>
          </a:p>
        </p:txBody>
      </p:sp>
      <p:sp>
        <p:nvSpPr>
          <p:cNvPr id="35" name="Shape 33"/>
          <p:cNvSpPr/>
          <p:nvPr/>
        </p:nvSpPr>
        <p:spPr>
          <a:xfrm>
            <a:off x="914400" y="3767328"/>
            <a:ext cx="10424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87552" y="3867912"/>
            <a:ext cx="237378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SEC retrieval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3489350" y="3867912"/>
            <a:ext cx="393740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manifest_sec_filings.csv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>
            <a:off x="7554773" y="3867912"/>
            <a:ext cx="3728923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Relevant forms and exhibits found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914400" y="4151376"/>
            <a:ext cx="10424160" cy="384048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987552" y="4251960"/>
            <a:ext cx="237378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Field locator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3489350" y="4251960"/>
            <a:ext cx="393740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field_locator.csv / coverage.csv</a:t>
            </a:r>
            <a:endParaRPr lang="en-US" sz="880" dirty="0"/>
          </a:p>
        </p:txBody>
      </p:sp>
      <p:sp>
        <p:nvSpPr>
          <p:cNvPr id="42" name="Text 40"/>
          <p:cNvSpPr/>
          <p:nvPr/>
        </p:nvSpPr>
        <p:spPr>
          <a:xfrm>
            <a:off x="7554773" y="4251960"/>
            <a:ext cx="3728923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Required field evidence ranked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914400" y="4535424"/>
            <a:ext cx="10424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87552" y="4636008"/>
            <a:ext cx="237378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Claude extraction</a:t>
            </a:r>
            <a:endParaRPr lang="en-US" sz="880" dirty="0"/>
          </a:p>
        </p:txBody>
      </p:sp>
      <p:sp>
        <p:nvSpPr>
          <p:cNvPr id="45" name="Text 43"/>
          <p:cNvSpPr/>
          <p:nvPr/>
        </p:nvSpPr>
        <p:spPr>
          <a:xfrm>
            <a:off x="3489350" y="4636008"/>
            <a:ext cx="393740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llm_field_extractions.csv</a:t>
            </a:r>
            <a:endParaRPr lang="en-US" sz="880" dirty="0"/>
          </a:p>
        </p:txBody>
      </p:sp>
      <p:sp>
        <p:nvSpPr>
          <p:cNvPr id="46" name="Text 44"/>
          <p:cNvSpPr/>
          <p:nvPr/>
        </p:nvSpPr>
        <p:spPr>
          <a:xfrm>
            <a:off x="7554773" y="4636008"/>
            <a:ext cx="3728923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Every canonical field returned or marked not_found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914400" y="4919472"/>
            <a:ext cx="10424160" cy="384048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987552" y="5020056"/>
            <a:ext cx="237378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WRDS joins</a:t>
            </a:r>
            <a:endParaRPr lang="en-US" sz="880" dirty="0"/>
          </a:p>
        </p:txBody>
      </p:sp>
      <p:sp>
        <p:nvSpPr>
          <p:cNvPr id="49" name="Text 47"/>
          <p:cNvSpPr/>
          <p:nvPr/>
        </p:nvSpPr>
        <p:spPr>
          <a:xfrm>
            <a:off x="3489350" y="5020056"/>
            <a:ext cx="393740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event_market_features.csv / ownership_mix_by_event.csv</a:t>
            </a:r>
            <a:endParaRPr lang="en-US" sz="880" dirty="0"/>
          </a:p>
        </p:txBody>
      </p:sp>
      <p:sp>
        <p:nvSpPr>
          <p:cNvPr id="50" name="Text 48"/>
          <p:cNvSpPr/>
          <p:nvPr/>
        </p:nvSpPr>
        <p:spPr>
          <a:xfrm>
            <a:off x="7554773" y="5020056"/>
            <a:ext cx="3728923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Prices, liquidity, and passive block populated</a:t>
            </a:r>
            <a:endParaRPr lang="en-US" sz="880" dirty="0"/>
          </a:p>
        </p:txBody>
      </p:sp>
      <p:sp>
        <p:nvSpPr>
          <p:cNvPr id="51" name="Shape 49"/>
          <p:cNvSpPr/>
          <p:nvPr/>
        </p:nvSpPr>
        <p:spPr>
          <a:xfrm>
            <a:off x="914400" y="5303520"/>
            <a:ext cx="10424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987552" y="5404104"/>
            <a:ext cx="237378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Model builder</a:t>
            </a:r>
            <a:endParaRPr lang="en-US" sz="880" dirty="0"/>
          </a:p>
        </p:txBody>
      </p:sp>
      <p:sp>
        <p:nvSpPr>
          <p:cNvPr id="53" name="Text 51"/>
          <p:cNvSpPr/>
          <p:nvPr/>
        </p:nvSpPr>
        <p:spPr>
          <a:xfrm>
            <a:off x="3489350" y="5404104"/>
            <a:ext cx="393740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election_model_predictions.csv</a:t>
            </a:r>
            <a:endParaRPr lang="en-US" sz="880" dirty="0"/>
          </a:p>
        </p:txBody>
      </p:sp>
      <p:sp>
        <p:nvSpPr>
          <p:cNvPr id="54" name="Text 52"/>
          <p:cNvSpPr/>
          <p:nvPr/>
        </p:nvSpPr>
        <p:spPr>
          <a:xfrm>
            <a:off x="7554773" y="5404104"/>
            <a:ext cx="3728923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Fixed deals blocked; election deals produce strategy row</a:t>
            </a:r>
            <a:endParaRPr lang="en-US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315A"/>
          </a:solidFill>
          <a:ln w="12700">
            <a:solidFill>
              <a:srgbClr val="143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315A"/>
                </a:solidFill>
              </a:rPr>
              <a:t>Step 1 — SEC retrieval implementation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12064" y="923544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Module: download_ma_edgar_files.py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68580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475569"/>
                </a:solidFill>
              </a:rPr>
              <a:t>JPM Project 3ii · Weekly workflow validation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475569"/>
                </a:solidFill>
              </a:rPr>
              <a:t>4 / 12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731520" y="1508760"/>
            <a:ext cx="5212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315A"/>
                </a:solidFill>
              </a:rPr>
              <a:t>Inputs and filters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1892808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563EB"/>
                </a:solidFill>
              </a:rPr>
              <a:t>•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960120" y="1892808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0F172A"/>
                </a:solidFill>
              </a:rPr>
              <a:t>Bloomberg M&amp;A export with target, acquirer, announcement date, payment type, status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731520" y="2286000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563EB"/>
                </a:solidFill>
              </a:rPr>
              <a:t>•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960120" y="2286000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0F172A"/>
                </a:solidFill>
              </a:rPr>
              <a:t>Restrict to completed Cash-or-Stock / Cash-and-Stock candidates for this run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731520" y="2679192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563EB"/>
                </a:solidFill>
              </a:rPr>
              <a:t>•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960120" y="267919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0F172A"/>
                </a:solidFill>
              </a:rPr>
              <a:t>Use announcement-centered window: pre-days for setup filings and post-days for labels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6355080" y="1508760"/>
            <a:ext cx="5212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315A"/>
                </a:solidFill>
              </a:rPr>
              <a:t>Retrieval mechanics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55080" y="1892808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563EB"/>
                </a:solidFill>
              </a:rPr>
              <a:t>•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6583680" y="1892808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0F172A"/>
                </a:solidFill>
              </a:rPr>
              <a:t>Resolve company names to SEC CIK and preserve diagnostics for ambiguous matches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6355080" y="2286000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563EB"/>
                </a:solidFill>
              </a:rPr>
              <a:t>•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6583680" y="2286000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0F172A"/>
                </a:solidFill>
              </a:rPr>
              <a:t>Pull SEC submissions index and download primary filings plus exhibits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6355080" y="2679192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563EB"/>
                </a:solidFill>
              </a:rPr>
              <a:t>•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6583680" y="267919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0F172A"/>
                </a:solidFill>
              </a:rPr>
              <a:t>Target forms: S-4/A, 424B3, 8-K, 10-Q/10-K, EX-2.1, EX-99.1 and election materials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914400" y="4572000"/>
            <a:ext cx="10332720" cy="384048"/>
          </a:xfrm>
          <a:prstGeom prst="rect">
            <a:avLst/>
          </a:prstGeom>
          <a:solidFill>
            <a:srgbClr val="14315A"/>
          </a:solidFill>
          <a:ln w="12700">
            <a:solidFill>
              <a:srgbClr val="143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87552" y="4681728"/>
            <a:ext cx="2351837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b="1" dirty="0">
                <a:solidFill>
                  <a:srgbClr val="FFFFFF"/>
                </a:solidFill>
              </a:rPr>
              <a:t>Case</a:t>
            </a:r>
            <a:endParaRPr lang="en-US" sz="890" dirty="0"/>
          </a:p>
        </p:txBody>
      </p:sp>
      <p:sp>
        <p:nvSpPr>
          <p:cNvPr id="24" name="Text 22"/>
          <p:cNvSpPr/>
          <p:nvPr/>
        </p:nvSpPr>
        <p:spPr>
          <a:xfrm>
            <a:off x="3467405" y="4681728"/>
            <a:ext cx="3901745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b="1" dirty="0">
                <a:solidFill>
                  <a:srgbClr val="FFFFFF"/>
                </a:solidFill>
              </a:rPr>
              <a:t>Files found</a:t>
            </a:r>
            <a:endParaRPr lang="en-US" sz="890" dirty="0"/>
          </a:p>
        </p:txBody>
      </p:sp>
      <p:sp>
        <p:nvSpPr>
          <p:cNvPr id="25" name="Text 23"/>
          <p:cNvSpPr/>
          <p:nvPr/>
        </p:nvSpPr>
        <p:spPr>
          <a:xfrm>
            <a:off x="7497166" y="4681728"/>
            <a:ext cx="369509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b="1" dirty="0">
                <a:solidFill>
                  <a:srgbClr val="FFFFFF"/>
                </a:solidFill>
              </a:rPr>
              <a:t>Use</a:t>
            </a:r>
            <a:endParaRPr lang="en-US" sz="890" dirty="0"/>
          </a:p>
        </p:txBody>
      </p:sp>
      <p:sp>
        <p:nvSpPr>
          <p:cNvPr id="26" name="Shape 24"/>
          <p:cNvSpPr/>
          <p:nvPr/>
        </p:nvSpPr>
        <p:spPr>
          <a:xfrm>
            <a:off x="914400" y="4956048"/>
            <a:ext cx="10332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87552" y="5056632"/>
            <a:ext cx="2351837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Andeavor/MPC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3467405" y="5056632"/>
            <a:ext cx="3901745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S-4/A, 424B3, 8-K, 10-Q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7497166" y="5056632"/>
            <a:ext cx="369509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Terms, default rule, final allocation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914400" y="5340096"/>
            <a:ext cx="10332720" cy="384048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87552" y="5440680"/>
            <a:ext cx="2351837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Celgene/BMY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3467405" y="5440680"/>
            <a:ext cx="3901745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Mixed-consideration files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7497166" y="5440680"/>
            <a:ext cx="369509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Negative control for non-election classification</a:t>
            </a:r>
            <a:endParaRPr lang="en-US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315A"/>
          </a:solidFill>
          <a:ln w="12700">
            <a:solidFill>
              <a:srgbClr val="143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315A"/>
                </a:solidFill>
              </a:rPr>
              <a:t>Step 2 — Field locator turns files into evidence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12064" y="923544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Modules: field_specs.json + download_ma_edgar_files.py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68580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475569"/>
                </a:solidFill>
              </a:rPr>
              <a:t>JPM Project 3ii · Weekly workflow validation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475569"/>
                </a:solidFill>
              </a:rPr>
              <a:t>5 / 12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777240" y="1417320"/>
            <a:ext cx="10652760" cy="384048"/>
          </a:xfrm>
          <a:prstGeom prst="rect">
            <a:avLst/>
          </a:prstGeom>
          <a:solidFill>
            <a:srgbClr val="14315A"/>
          </a:solidFill>
          <a:ln w="12700">
            <a:solidFill>
              <a:srgbClr val="143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50392" y="1527048"/>
            <a:ext cx="2641702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b="1" dirty="0">
                <a:solidFill>
                  <a:srgbClr val="FFFFFF"/>
                </a:solidFill>
              </a:rPr>
              <a:t>Component</a:t>
            </a:r>
            <a:endParaRPr lang="en-US" sz="890" dirty="0"/>
          </a:p>
        </p:txBody>
      </p:sp>
      <p:sp>
        <p:nvSpPr>
          <p:cNvPr id="10" name="Text 8"/>
          <p:cNvSpPr/>
          <p:nvPr/>
        </p:nvSpPr>
        <p:spPr>
          <a:xfrm>
            <a:off x="3620110" y="1527048"/>
            <a:ext cx="7755026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b="1" dirty="0">
                <a:solidFill>
                  <a:srgbClr val="FFFFFF"/>
                </a:solidFill>
              </a:rPr>
              <a:t>Implementation</a:t>
            </a:r>
            <a:endParaRPr lang="en-US" sz="890" dirty="0"/>
          </a:p>
        </p:txBody>
      </p:sp>
      <p:sp>
        <p:nvSpPr>
          <p:cNvPr id="11" name="Shape 9"/>
          <p:cNvSpPr/>
          <p:nvPr/>
        </p:nvSpPr>
        <p:spPr>
          <a:xfrm>
            <a:off x="777240" y="1801368"/>
            <a:ext cx="10652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50392" y="1901952"/>
            <a:ext cx="264170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Canonical field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3620110" y="1901952"/>
            <a:ext cx="775502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Required flag, timing bucket, preferred forms, keywords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77240" y="2185416"/>
            <a:ext cx="10652760" cy="384048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50392" y="2286000"/>
            <a:ext cx="264170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Scoring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3620110" y="2286000"/>
            <a:ext cx="775502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Keyword hits + form priority + top-k evidence snippets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777240" y="2569464"/>
            <a:ext cx="10652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50392" y="2670048"/>
            <a:ext cx="264170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Audit gate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3620110" y="2670048"/>
            <a:ext cx="775502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missing_required=True identifies deals not ready for extraction/modeling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777240" y="2953512"/>
            <a:ext cx="10652760" cy="384048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50392" y="3054096"/>
            <a:ext cx="264170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Claude package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3620110" y="3054096"/>
            <a:ext cx="775502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evidence_index.json, claude_prompt.txt, selected filings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1325880" y="4160520"/>
            <a:ext cx="9555480" cy="1005840"/>
          </a:xfrm>
          <a:prstGeom prst="roundRect">
            <a:avLst>
              <a:gd name="adj" fmla="val 7273"/>
            </a:avLst>
          </a:prstGeom>
          <a:solidFill>
            <a:srgbClr val="EAF2FF"/>
          </a:solidFill>
          <a:ln w="12700">
            <a:solidFill>
              <a:srgbClr val="BB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691640" y="4462272"/>
            <a:ext cx="88239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315A"/>
                </a:solidFill>
              </a:rPr>
              <a:t>Design choice: evidence is ranked before Claude sees it, so the LLM is used for structured extraction rather than open-ended document search.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315A"/>
          </a:solidFill>
          <a:ln w="12700">
            <a:solidFill>
              <a:srgbClr val="143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315A"/>
                </a:solidFill>
              </a:rPr>
              <a:t>Step 3 — Claude extraction has a strict output contract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12064" y="923544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The code expects field-level JSON, not prose summaries.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68580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475569"/>
                </a:solidFill>
              </a:rPr>
              <a:t>JPM Project 3ii · Weekly workflow validation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475569"/>
                </a:solidFill>
              </a:rPr>
              <a:t>6 / 12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315A"/>
                </a:solidFill>
              </a:rPr>
              <a:t>Return schema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1709928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563EB"/>
                </a:solidFill>
              </a:rPr>
              <a:t>•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1005840" y="1709928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0F172A"/>
                </a:solidFill>
              </a:rPr>
              <a:t>fields object includes every requested canonical field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777240" y="2103120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563EB"/>
                </a:solidFill>
              </a:rPr>
              <a:t>•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1005840" y="2103120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0F172A"/>
                </a:solidFill>
              </a:rPr>
              <a:t>Each field returns value, basis, evidence, source form, filing date, confidence, notes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777240" y="2496312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563EB"/>
                </a:solidFill>
              </a:rPr>
              <a:t>•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1005840" y="2496312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0F172A"/>
                </a:solidFill>
              </a:rPr>
              <a:t>Unsupported fields return value=null and basis=not_found rather than being omitted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6355080" y="1508760"/>
            <a:ext cx="4983480" cy="384048"/>
          </a:xfrm>
          <a:prstGeom prst="rect">
            <a:avLst/>
          </a:prstGeom>
          <a:solidFill>
            <a:srgbClr val="14315A"/>
          </a:solidFill>
          <a:ln w="12700">
            <a:solidFill>
              <a:srgbClr val="143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28232" y="1618488"/>
            <a:ext cx="1715872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b="1" dirty="0">
                <a:solidFill>
                  <a:srgbClr val="FFFFFF"/>
                </a:solidFill>
              </a:rPr>
              <a:t>Field</a:t>
            </a:r>
            <a:endParaRPr lang="en-US" sz="890" dirty="0"/>
          </a:p>
        </p:txBody>
      </p:sp>
      <p:sp>
        <p:nvSpPr>
          <p:cNvPr id="17" name="Text 15"/>
          <p:cNvSpPr/>
          <p:nvPr/>
        </p:nvSpPr>
        <p:spPr>
          <a:xfrm>
            <a:off x="8272120" y="1618488"/>
            <a:ext cx="3011576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b="1" dirty="0">
                <a:solidFill>
                  <a:srgbClr val="FFFFFF"/>
                </a:solidFill>
              </a:rPr>
              <a:t>Andeavor/MPC value</a:t>
            </a:r>
            <a:endParaRPr lang="en-US" sz="890" dirty="0"/>
          </a:p>
        </p:txBody>
      </p:sp>
      <p:sp>
        <p:nvSpPr>
          <p:cNvPr id="18" name="Shape 16"/>
          <p:cNvSpPr/>
          <p:nvPr/>
        </p:nvSpPr>
        <p:spPr>
          <a:xfrm>
            <a:off x="6355080" y="1892808"/>
            <a:ext cx="4983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28232" y="1993392"/>
            <a:ext cx="171587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cash_consideration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8272120" y="1993392"/>
            <a:ext cx="301157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$152.27 per ANDV share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6355080" y="2276856"/>
            <a:ext cx="4983480" cy="384048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28232" y="2377440"/>
            <a:ext cx="171587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exchange_ratio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8272120" y="2377440"/>
            <a:ext cx="301157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1.87 MPC shares per ANDV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6355080" y="2660904"/>
            <a:ext cx="4983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28232" y="2761488"/>
            <a:ext cx="171587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cash_cap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8272120" y="2761488"/>
            <a:ext cx="301157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22,885,359 shares / ~15%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6355080" y="3044952"/>
            <a:ext cx="4983480" cy="384048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28232" y="3145536"/>
            <a:ext cx="171587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stock_cap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8272120" y="3145536"/>
            <a:ext cx="301157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Remainder / ~85%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6355080" y="3429000"/>
            <a:ext cx="4983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28232" y="3529584"/>
            <a:ext cx="171587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default_rule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8272120" y="3529584"/>
            <a:ext cx="301157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No/late/invalid/revoked election → stock</a:t>
            </a:r>
            <a:endParaRPr lang="en-US" sz="8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315A"/>
          </a:solidFill>
          <a:ln w="12700">
            <a:solidFill>
              <a:srgbClr val="143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315A"/>
                </a:solidFill>
              </a:rPr>
              <a:t>Step 4 — WRDS joins populate market and passive-ownership inputs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12064" y="923544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Modules: download_wrds_market_data.py and download_ownership_etf_data.py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68580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475569"/>
                </a:solidFill>
              </a:rPr>
              <a:t>JPM Project 3ii · Weekly workflow validation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475569"/>
                </a:solidFill>
              </a:rPr>
              <a:t>7 / 12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731520" y="1481328"/>
            <a:ext cx="5394960" cy="384048"/>
          </a:xfrm>
          <a:prstGeom prst="rect">
            <a:avLst/>
          </a:prstGeom>
          <a:solidFill>
            <a:srgbClr val="14315A"/>
          </a:solidFill>
          <a:ln w="12700">
            <a:solidFill>
              <a:srgbClr val="143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04672" y="1591056"/>
            <a:ext cx="2461565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b="1" dirty="0">
                <a:solidFill>
                  <a:srgbClr val="FFFFFF"/>
                </a:solidFill>
              </a:rPr>
              <a:t>Market field</a:t>
            </a:r>
            <a:endParaRPr lang="en-US" sz="890" dirty="0"/>
          </a:p>
        </p:txBody>
      </p:sp>
      <p:sp>
        <p:nvSpPr>
          <p:cNvPr id="10" name="Text 8"/>
          <p:cNvSpPr/>
          <p:nvPr/>
        </p:nvSpPr>
        <p:spPr>
          <a:xfrm>
            <a:off x="3394253" y="1591056"/>
            <a:ext cx="2677363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b="1" dirty="0">
                <a:solidFill>
                  <a:srgbClr val="FFFFFF"/>
                </a:solidFill>
              </a:rPr>
              <a:t>Value</a:t>
            </a:r>
            <a:endParaRPr lang="en-US" sz="890" dirty="0"/>
          </a:p>
        </p:txBody>
      </p:sp>
      <p:sp>
        <p:nvSpPr>
          <p:cNvPr id="11" name="Shape 9"/>
          <p:cNvSpPr/>
          <p:nvPr/>
        </p:nvSpPr>
        <p:spPr>
          <a:xfrm>
            <a:off x="731520" y="1865376"/>
            <a:ext cx="5394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04672" y="1965960"/>
            <a:ext cx="2461565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ANDV target price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3394253" y="1965960"/>
            <a:ext cx="2677363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$138.32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31520" y="2249424"/>
            <a:ext cx="5394960" cy="384048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04672" y="2350008"/>
            <a:ext cx="2461565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MPC acquirer price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3394253" y="2350008"/>
            <a:ext cx="2677363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$74.91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731520" y="2633472"/>
            <a:ext cx="5394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04672" y="2734056"/>
            <a:ext cx="2461565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Stock-election value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3394253" y="2734056"/>
            <a:ext cx="2677363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$140.08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731520" y="3017520"/>
            <a:ext cx="5394960" cy="384048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04672" y="3118104"/>
            <a:ext cx="2461565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Cash-election value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3394253" y="3118104"/>
            <a:ext cx="2677363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$152.27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731520" y="3401568"/>
            <a:ext cx="5394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04672" y="3502152"/>
            <a:ext cx="2461565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Target ADV20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3394253" y="3502152"/>
            <a:ext cx="2677363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2.53 million shares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731520" y="3785616"/>
            <a:ext cx="5394960" cy="384048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04672" y="3886200"/>
            <a:ext cx="2461565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Target market cap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3394253" y="3886200"/>
            <a:ext cx="2677363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$20.9 billion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6400800" y="1481328"/>
            <a:ext cx="5074920" cy="384048"/>
          </a:xfrm>
          <a:prstGeom prst="rect">
            <a:avLst/>
          </a:prstGeom>
          <a:solidFill>
            <a:srgbClr val="14315A"/>
          </a:solidFill>
          <a:ln w="12700">
            <a:solidFill>
              <a:srgbClr val="143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73952" y="1591056"/>
            <a:ext cx="2510942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b="1" dirty="0">
                <a:solidFill>
                  <a:srgbClr val="FFFFFF"/>
                </a:solidFill>
              </a:rPr>
              <a:t>Ownership field</a:t>
            </a:r>
            <a:endParaRPr lang="en-US" sz="890" dirty="0"/>
          </a:p>
        </p:txBody>
      </p:sp>
      <p:sp>
        <p:nvSpPr>
          <p:cNvPr id="31" name="Text 29"/>
          <p:cNvSpPr/>
          <p:nvPr/>
        </p:nvSpPr>
        <p:spPr>
          <a:xfrm>
            <a:off x="9112910" y="1591056"/>
            <a:ext cx="2307946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b="1" dirty="0">
                <a:solidFill>
                  <a:srgbClr val="FFFFFF"/>
                </a:solidFill>
              </a:rPr>
              <a:t>Value</a:t>
            </a:r>
            <a:endParaRPr lang="en-US" sz="890" dirty="0"/>
          </a:p>
        </p:txBody>
      </p:sp>
      <p:sp>
        <p:nvSpPr>
          <p:cNvPr id="32" name="Shape 30"/>
          <p:cNvSpPr/>
          <p:nvPr/>
        </p:nvSpPr>
        <p:spPr>
          <a:xfrm>
            <a:off x="6400800" y="1865376"/>
            <a:ext cx="5074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73952" y="1965960"/>
            <a:ext cx="251094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Historical ticker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9112910" y="1965960"/>
            <a:ext cx="230794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ANDV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6400800" y="2249424"/>
            <a:ext cx="5074920" cy="384048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473952" y="2350008"/>
            <a:ext cx="251094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CRSP PERMNO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9112910" y="2350008"/>
            <a:ext cx="230794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37284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6400800" y="2633472"/>
            <a:ext cx="5074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473952" y="2734056"/>
            <a:ext cx="251094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Matched CUSIP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9112910" y="2734056"/>
            <a:ext cx="230794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03349M10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6400800" y="3017520"/>
            <a:ext cx="5074920" cy="384048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473952" y="3118104"/>
            <a:ext cx="251094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ETF/index-fund exposure</a:t>
            </a:r>
            <a:endParaRPr lang="en-US" sz="880" dirty="0"/>
          </a:p>
        </p:txBody>
      </p:sp>
      <p:sp>
        <p:nvSpPr>
          <p:cNvPr id="43" name="Text 41"/>
          <p:cNvSpPr/>
          <p:nvPr/>
        </p:nvSpPr>
        <p:spPr>
          <a:xfrm>
            <a:off x="9112910" y="3118104"/>
            <a:ext cx="230794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26.75 million shares</a:t>
            </a:r>
            <a:endParaRPr lang="en-US" sz="880" dirty="0"/>
          </a:p>
        </p:txBody>
      </p:sp>
      <p:sp>
        <p:nvSpPr>
          <p:cNvPr id="44" name="Shape 42"/>
          <p:cNvSpPr/>
          <p:nvPr/>
        </p:nvSpPr>
        <p:spPr>
          <a:xfrm>
            <a:off x="6400800" y="3401568"/>
            <a:ext cx="5074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473952" y="3502152"/>
            <a:ext cx="251094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Holder count</a:t>
            </a:r>
            <a:endParaRPr lang="en-US" sz="880" dirty="0"/>
          </a:p>
        </p:txBody>
      </p:sp>
      <p:sp>
        <p:nvSpPr>
          <p:cNvPr id="46" name="Text 44"/>
          <p:cNvSpPr/>
          <p:nvPr/>
        </p:nvSpPr>
        <p:spPr>
          <a:xfrm>
            <a:off x="9112910" y="3502152"/>
            <a:ext cx="230794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232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6400800" y="3785616"/>
            <a:ext cx="5074920" cy="384048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473952" y="3886200"/>
            <a:ext cx="251094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Passive ownership estimate</a:t>
            </a:r>
            <a:endParaRPr lang="en-US" sz="880" dirty="0"/>
          </a:p>
        </p:txBody>
      </p:sp>
      <p:sp>
        <p:nvSpPr>
          <p:cNvPr id="49" name="Text 47"/>
          <p:cNvSpPr/>
          <p:nvPr/>
        </p:nvSpPr>
        <p:spPr>
          <a:xfrm>
            <a:off x="9112910" y="3886200"/>
            <a:ext cx="230794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17.7%</a:t>
            </a:r>
            <a:endParaRPr lang="en-US" sz="8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315A"/>
          </a:solidFill>
          <a:ln w="12700">
            <a:solidFill>
              <a:srgbClr val="143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315A"/>
                </a:solidFill>
              </a:rPr>
              <a:t>Step 5 — Model builder merges, audits, then blocks or predicts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12064" y="923544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Module: build_election_strategy_model.py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68580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475569"/>
                </a:solidFill>
              </a:rPr>
              <a:t>JPM Project 3ii · Weekly workflow validation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475569"/>
                </a:solidFill>
              </a:rPr>
              <a:t>8 / 12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1920240" y="1618488"/>
            <a:ext cx="182880" cy="27432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721608" y="1618488"/>
            <a:ext cx="182880" cy="27432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522976" y="1618488"/>
            <a:ext cx="182880" cy="27432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24344" y="1618488"/>
            <a:ext cx="182880" cy="27432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125712" y="1618488"/>
            <a:ext cx="182880" cy="27432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94360" y="1417320"/>
            <a:ext cx="1298448" cy="676656"/>
          </a:xfrm>
          <a:prstGeom prst="roundRect">
            <a:avLst>
              <a:gd name="adj" fmla="val 10811"/>
            </a:avLst>
          </a:prstGeom>
          <a:solidFill>
            <a:srgbClr val="EAF2FF"/>
          </a:solidFill>
          <a:ln w="12700">
            <a:solidFill>
              <a:srgbClr val="BB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76656" y="1536192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4315A"/>
                </a:solidFill>
              </a:rPr>
              <a:t>SEC/Claude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676656" y="1773936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475569"/>
                </a:solidFill>
              </a:rPr>
              <a:t>legal terms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2395728" y="1417320"/>
            <a:ext cx="1298448" cy="676656"/>
          </a:xfrm>
          <a:prstGeom prst="roundRect">
            <a:avLst>
              <a:gd name="adj" fmla="val 10811"/>
            </a:avLst>
          </a:prstGeom>
          <a:solidFill>
            <a:srgbClr val="EAF2FF"/>
          </a:solidFill>
          <a:ln w="12700">
            <a:solidFill>
              <a:srgbClr val="BB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478024" y="1536192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4315A"/>
                </a:solidFill>
              </a:rPr>
              <a:t>WRDS market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2478024" y="1773936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475569"/>
                </a:solidFill>
              </a:rPr>
              <a:t>price/liquidity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4197096" y="1417320"/>
            <a:ext cx="1298448" cy="676656"/>
          </a:xfrm>
          <a:prstGeom prst="roundRect">
            <a:avLst>
              <a:gd name="adj" fmla="val 10811"/>
            </a:avLst>
          </a:prstGeom>
          <a:solidFill>
            <a:srgbClr val="EAF2FF"/>
          </a:solidFill>
          <a:ln w="12700">
            <a:solidFill>
              <a:srgbClr val="BB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279392" y="1536192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4315A"/>
                </a:solidFill>
              </a:rPr>
              <a:t>WRDS ownership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4279392" y="1773936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475569"/>
                </a:solidFill>
              </a:rPr>
              <a:t>passive block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5998464" y="1417320"/>
            <a:ext cx="1298448" cy="676656"/>
          </a:xfrm>
          <a:prstGeom prst="roundRect">
            <a:avLst>
              <a:gd name="adj" fmla="val 10811"/>
            </a:avLst>
          </a:prstGeom>
          <a:solidFill>
            <a:srgbClr val="EAF2FF"/>
          </a:solidFill>
          <a:ln w="12700">
            <a:solidFill>
              <a:srgbClr val="BB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080760" y="1536192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4315A"/>
                </a:solidFill>
              </a:rPr>
              <a:t>coverage audit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6080760" y="1773936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475569"/>
                </a:solidFill>
              </a:rPr>
              <a:t>field status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7799832" y="1417320"/>
            <a:ext cx="1298448" cy="676656"/>
          </a:xfrm>
          <a:prstGeom prst="roundRect">
            <a:avLst>
              <a:gd name="adj" fmla="val 10811"/>
            </a:avLst>
          </a:prstGeom>
          <a:solidFill>
            <a:srgbClr val="EAF2FF"/>
          </a:solidFill>
          <a:ln w="12700">
            <a:solidFill>
              <a:srgbClr val="BB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882128" y="1536192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4315A"/>
                </a:solidFill>
              </a:rPr>
              <a:t>deal classifier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7882128" y="1773936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475569"/>
                </a:solidFill>
              </a:rPr>
              <a:t>block/predict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9601200" y="1417320"/>
            <a:ext cx="1298448" cy="676656"/>
          </a:xfrm>
          <a:prstGeom prst="roundRect">
            <a:avLst>
              <a:gd name="adj" fmla="val 10811"/>
            </a:avLst>
          </a:prstGeom>
          <a:solidFill>
            <a:srgbClr val="EAF2FF"/>
          </a:solidFill>
          <a:ln w="12700">
            <a:solidFill>
              <a:srgbClr val="BB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683496" y="1536192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4315A"/>
                </a:solidFill>
              </a:rPr>
              <a:t>strategy row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9683496" y="1773936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475569"/>
                </a:solidFill>
              </a:rPr>
              <a:t>EV + hedge</a:t>
            </a:r>
            <a:endParaRPr lang="en-US" sz="720" dirty="0"/>
          </a:p>
        </p:txBody>
      </p:sp>
      <p:sp>
        <p:nvSpPr>
          <p:cNvPr id="31" name="Shape 29"/>
          <p:cNvSpPr/>
          <p:nvPr/>
        </p:nvSpPr>
        <p:spPr>
          <a:xfrm>
            <a:off x="914400" y="2880360"/>
            <a:ext cx="10378440" cy="384048"/>
          </a:xfrm>
          <a:prstGeom prst="rect">
            <a:avLst/>
          </a:prstGeom>
          <a:solidFill>
            <a:srgbClr val="14315A"/>
          </a:solidFill>
          <a:ln w="12700">
            <a:solidFill>
              <a:srgbClr val="143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87552" y="2990088"/>
            <a:ext cx="3400654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b="1" dirty="0">
                <a:solidFill>
                  <a:srgbClr val="FFFFFF"/>
                </a:solidFill>
              </a:rPr>
              <a:t>Validation check</a:t>
            </a:r>
            <a:endParaRPr lang="en-US" sz="890" dirty="0"/>
          </a:p>
        </p:txBody>
      </p:sp>
      <p:sp>
        <p:nvSpPr>
          <p:cNvPr id="33" name="Text 31"/>
          <p:cNvSpPr/>
          <p:nvPr/>
        </p:nvSpPr>
        <p:spPr>
          <a:xfrm>
            <a:off x="4516222" y="2990088"/>
            <a:ext cx="6721754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b="1" dirty="0">
                <a:solidFill>
                  <a:srgbClr val="FFFFFF"/>
                </a:solidFill>
              </a:rPr>
              <a:t>Result in this run</a:t>
            </a:r>
            <a:endParaRPr lang="en-US" sz="890" dirty="0"/>
          </a:p>
        </p:txBody>
      </p:sp>
      <p:sp>
        <p:nvSpPr>
          <p:cNvPr id="34" name="Shape 32"/>
          <p:cNvSpPr/>
          <p:nvPr/>
        </p:nvSpPr>
        <p:spPr>
          <a:xfrm>
            <a:off x="914400" y="3264408"/>
            <a:ext cx="10378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87552" y="3364992"/>
            <a:ext cx="3400654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Fixed-consideration control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4516222" y="3364992"/>
            <a:ext cx="6721754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Celgene/BMY blocked as fixed_consideration_no_shareholder_election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914400" y="3648456"/>
            <a:ext cx="10378440" cy="384048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87552" y="3749040"/>
            <a:ext cx="3400654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Election/proration readiness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4516222" y="3749040"/>
            <a:ext cx="6721754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Andeavor/MPC has menu, caps, formula, default rule, prices, passive block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914400" y="4032504"/>
            <a:ext cx="10378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987552" y="4133088"/>
            <a:ext cx="3400654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Trade-entry discipline</a:t>
            </a:r>
            <a:endParaRPr lang="en-US" sz="880" dirty="0"/>
          </a:p>
        </p:txBody>
      </p:sp>
      <p:sp>
        <p:nvSpPr>
          <p:cNvPr id="42" name="Text 40"/>
          <p:cNvSpPr/>
          <p:nvPr/>
        </p:nvSpPr>
        <p:spPr>
          <a:xfrm>
            <a:off x="4516222" y="4133088"/>
            <a:ext cx="6721754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Final allocation is kept as label; not used as an entry-time feature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914400" y="4416552"/>
            <a:ext cx="10378440" cy="384048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87552" y="4517136"/>
            <a:ext cx="3400654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Missing data behavior</a:t>
            </a:r>
            <a:endParaRPr lang="en-US" sz="880" dirty="0"/>
          </a:p>
        </p:txBody>
      </p:sp>
      <p:sp>
        <p:nvSpPr>
          <p:cNvPr id="45" name="Text 43"/>
          <p:cNvSpPr/>
          <p:nvPr/>
        </p:nvSpPr>
        <p:spPr>
          <a:xfrm>
            <a:off x="4516222" y="4517136"/>
            <a:ext cx="6721754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Raw election demand marked unavailable rather than fabricated</a:t>
            </a:r>
            <a:endParaRPr lang="en-US" sz="8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315A"/>
          </a:solidFill>
          <a:ln w="12700">
            <a:solidFill>
              <a:srgbClr val="143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315A"/>
                </a:solidFill>
              </a:rPr>
              <a:t>Step 6 — Payoff engine prices both election choices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12064" y="923544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SEC fields provide legal terms; WRDS fields provide prices.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68580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475569"/>
                </a:solidFill>
              </a:rPr>
              <a:t>JPM Project 3ii · Weekly workflow validation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475569"/>
                </a:solidFill>
              </a:rPr>
              <a:t>9 / 12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868680" y="1325880"/>
            <a:ext cx="10378440" cy="530352"/>
          </a:xfrm>
          <a:prstGeom prst="roundRect">
            <a:avLst>
              <a:gd name="adj" fmla="val 8621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97280" y="1490472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Inputs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46120" y="1463040"/>
            <a:ext cx="75438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</a:rPr>
              <a:t>C = $152.27, r = 1.87, P_A = $74.91, P_T = $138.32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68680" y="2103120"/>
            <a:ext cx="10378440" cy="530352"/>
          </a:xfrm>
          <a:prstGeom prst="roundRect">
            <a:avLst>
              <a:gd name="adj" fmla="val 8621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97280" y="2267712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Menu values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46120" y="2240280"/>
            <a:ext cx="75438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</a:rPr>
              <a:t>V_cash = C = $152.27;  V_stock = r × P_A = $140.08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8680" y="2880360"/>
            <a:ext cx="10378440" cy="530352"/>
          </a:xfrm>
          <a:prstGeom prst="roundRect">
            <a:avLst>
              <a:gd name="adj" fmla="val 8621"/>
            </a:avLst>
          </a:prstGeom>
          <a:solidFill>
            <a:srgbClr val="EAF2FF"/>
          </a:solidFill>
          <a:ln w="12700">
            <a:solidFill>
              <a:srgbClr val="BB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97280" y="3044952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Favored election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46120" y="3017520"/>
            <a:ext cx="75438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argmax(V_cash, V_stock) = cash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68680" y="3657600"/>
            <a:ext cx="10378440" cy="530352"/>
          </a:xfrm>
          <a:prstGeom prst="roundRect">
            <a:avLst>
              <a:gd name="adj" fmla="val 8621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97280" y="3822192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Pre-proration spread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46120" y="3794760"/>
            <a:ext cx="75438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</a:rPr>
              <a:t>$152.27 − $138.32 = $13.95 per ANDV share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828800" y="4892040"/>
            <a:ext cx="8503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148840" y="5138928"/>
            <a:ext cx="7863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315A"/>
                </a:solidFill>
              </a:rPr>
              <a:t>This is the first point where SEC legal fields and WRDS pricing data become one trade-entry value.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315A"/>
          </a:solidFill>
          <a:ln w="12700">
            <a:solidFill>
              <a:srgbClr val="143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315A"/>
                </a:solidFill>
              </a:rPr>
              <a:t>Step 7 — Proration model converts demand into EV and alpha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12064" y="923544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The smoke test uses simple v1 assumptions so the full data loop can be verified first.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68580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475569"/>
                </a:solidFill>
              </a:rPr>
              <a:t>JPM Project 3ii · Weekly workflow validation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475569"/>
                </a:solidFill>
              </a:rPr>
              <a:t>10 / 12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777240" y="1280160"/>
            <a:ext cx="10652760" cy="384048"/>
          </a:xfrm>
          <a:prstGeom prst="rect">
            <a:avLst/>
          </a:prstGeom>
          <a:solidFill>
            <a:srgbClr val="14315A"/>
          </a:solidFill>
          <a:ln w="12700">
            <a:solidFill>
              <a:srgbClr val="143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50392" y="1389888"/>
            <a:ext cx="2854757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b="1" dirty="0">
                <a:solidFill>
                  <a:srgbClr val="FFFFFF"/>
                </a:solidFill>
              </a:rPr>
              <a:t>Calculation</a:t>
            </a:r>
            <a:endParaRPr lang="en-US" sz="890" dirty="0"/>
          </a:p>
        </p:txBody>
      </p:sp>
      <p:sp>
        <p:nvSpPr>
          <p:cNvPr id="10" name="Text 8"/>
          <p:cNvSpPr/>
          <p:nvPr/>
        </p:nvSpPr>
        <p:spPr>
          <a:xfrm>
            <a:off x="3833165" y="1389888"/>
            <a:ext cx="7541971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b="1" dirty="0">
                <a:solidFill>
                  <a:srgbClr val="FFFFFF"/>
                </a:solidFill>
              </a:rPr>
              <a:t>Smoke-test output</a:t>
            </a:r>
            <a:endParaRPr lang="en-US" sz="890" dirty="0"/>
          </a:p>
        </p:txBody>
      </p:sp>
      <p:sp>
        <p:nvSpPr>
          <p:cNvPr id="11" name="Shape 9"/>
          <p:cNvSpPr/>
          <p:nvPr/>
        </p:nvSpPr>
        <p:spPr>
          <a:xfrm>
            <a:off x="777240" y="1664208"/>
            <a:ext cx="10652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50392" y="1764792"/>
            <a:ext cx="2854757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Passive block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3833165" y="1764792"/>
            <a:ext cx="7541971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p = 17.7%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77240" y="2048256"/>
            <a:ext cx="10652760" cy="384048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50392" y="2148840"/>
            <a:ext cx="2854757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Predicted cash demand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3833165" y="2148840"/>
            <a:ext cx="7541971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D_cash = (1 − p) × 85% + p × 10% = 71.7%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777240" y="2432304"/>
            <a:ext cx="10652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50392" y="2532888"/>
            <a:ext cx="2854757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Cash fill rate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3833165" y="2532888"/>
            <a:ext cx="7541971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f_cash = min(1, 15.0% / 71.7%) = 20.9%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777240" y="2816352"/>
            <a:ext cx="10652760" cy="384048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50392" y="2916936"/>
            <a:ext cx="2854757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Expected value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3833165" y="2916936"/>
            <a:ext cx="7541971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EV = 20.9% × $152.27 + 79.1% × $140.08 = $142.63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777240" y="3200400"/>
            <a:ext cx="10652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50392" y="3300984"/>
            <a:ext cx="2854757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Net alpha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3833165" y="3300984"/>
            <a:ext cx="7541971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$142.63 − $138.32 − 10bp cost = $4.17 per share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868680" y="5532120"/>
            <a:ext cx="9692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</a:rPr>
              <a:t>V1 constants: borrow cost = 0; borrow availability = 1; short interest = 0.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315A"/>
          </a:solidFill>
          <a:ln w="12700">
            <a:solidFill>
              <a:srgbClr val="143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315A"/>
                </a:solidFill>
              </a:rPr>
              <a:t>Step 8 — Strategy row and output files are generated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12064" y="923544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The output is auditable from raw files to final prediction.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68580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475569"/>
                </a:solidFill>
              </a:rPr>
              <a:t>JPM Project 3ii · Weekly workflow validation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475569"/>
                </a:solidFill>
              </a:rPr>
              <a:t>11 / 12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EAF2FF"/>
          </a:solidFill>
          <a:ln w="12700">
            <a:solidFill>
              <a:srgbClr val="BB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0120" y="1728216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</a:rPr>
              <a:t>Strategy row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2029968"/>
            <a:ext cx="3291840" cy="5669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0F172A"/>
                </a:solidFill>
              </a:rPr>
              <a:t>+1.000 ANDV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0F172A"/>
                </a:solidFill>
              </a:rPr>
              <a:t>Elect cash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0F172A"/>
                </a:solidFill>
              </a:rPr>
              <a:t>−1.479 MPC hedge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0F172A"/>
                </a:solidFill>
              </a:rPr>
              <a:t>Signal: paper trade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4754880" y="1481328"/>
            <a:ext cx="6629400" cy="384048"/>
          </a:xfrm>
          <a:prstGeom prst="rect">
            <a:avLst/>
          </a:prstGeom>
          <a:solidFill>
            <a:srgbClr val="14315A"/>
          </a:solidFill>
          <a:ln w="12700">
            <a:solidFill>
              <a:srgbClr val="143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28032" y="1591056"/>
            <a:ext cx="2722626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b="1" dirty="0">
                <a:solidFill>
                  <a:srgbClr val="FFFFFF"/>
                </a:solidFill>
              </a:rPr>
              <a:t>Output file</a:t>
            </a:r>
            <a:endParaRPr lang="en-US" sz="890" dirty="0"/>
          </a:p>
        </p:txBody>
      </p:sp>
      <p:sp>
        <p:nvSpPr>
          <p:cNvPr id="13" name="Text 11"/>
          <p:cNvSpPr/>
          <p:nvPr/>
        </p:nvSpPr>
        <p:spPr>
          <a:xfrm>
            <a:off x="7678674" y="1591056"/>
            <a:ext cx="3650742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b="1" dirty="0">
                <a:solidFill>
                  <a:srgbClr val="FFFFFF"/>
                </a:solidFill>
              </a:rPr>
              <a:t>Purpose</a:t>
            </a:r>
            <a:endParaRPr lang="en-US" sz="890" dirty="0"/>
          </a:p>
        </p:txBody>
      </p:sp>
      <p:sp>
        <p:nvSpPr>
          <p:cNvPr id="14" name="Shape 12"/>
          <p:cNvSpPr/>
          <p:nvPr/>
        </p:nvSpPr>
        <p:spPr>
          <a:xfrm>
            <a:off x="4754880" y="1865376"/>
            <a:ext cx="6629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28032" y="1965960"/>
            <a:ext cx="272262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model_input_panel.csv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7678674" y="1965960"/>
            <a:ext cx="365074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Merged legal, ownership, and market event row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4754880" y="2249424"/>
            <a:ext cx="6629400" cy="384048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28032" y="2350008"/>
            <a:ext cx="272262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variable_coverage_report.csv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7678674" y="2350008"/>
            <a:ext cx="365074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Available / missing / assumed status by field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4754880" y="2633472"/>
            <a:ext cx="6629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28032" y="2734056"/>
            <a:ext cx="272262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election_model_predictions.csv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7678674" y="2734056"/>
            <a:ext cx="365074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Predicted demand, fill rate, EV, alpha, hedge ratio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4754880" y="3017520"/>
            <a:ext cx="6629400" cy="384048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28032" y="3118104"/>
            <a:ext cx="272262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model_run_summary.json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7678674" y="3118104"/>
            <a:ext cx="365074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Run-level counts and diagnostics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777240" y="3794760"/>
            <a:ext cx="10607040" cy="1051560"/>
          </a:xfrm>
          <a:prstGeom prst="roundRect">
            <a:avLst>
              <a:gd name="adj" fmla="val 6957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05840" y="4050792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315A"/>
                </a:solidFill>
              </a:rPr>
              <a:t>What this establishes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337560" y="4050792"/>
            <a:ext cx="75895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0F172A"/>
                </a:solidFill>
              </a:rPr>
              <a:t>The codebase can move from filings and WRDS tables to a model-ready event row without manual spreadsheet construction.</a:t>
            </a:r>
            <a:endParaRPr lang="en-US" sz="12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315A"/>
          </a:solidFill>
          <a:ln w="12700">
            <a:solidFill>
              <a:srgbClr val="143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315A"/>
                </a:solidFill>
              </a:rPr>
              <a:t>Mentor discussion and next implementation steps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68580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475569"/>
                </a:solidFill>
              </a:rPr>
              <a:t>JPM Project 3ii · Weekly workflow validation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475569"/>
                </a:solidFill>
              </a:rPr>
              <a:t>12 / 12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896112" y="1389888"/>
            <a:ext cx="280355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b="1" dirty="0">
                <a:solidFill>
                  <a:srgbClr val="FFFFFF"/>
                </a:solidFill>
              </a:rPr>
              <a:t>Next step</a:t>
            </a:r>
            <a:endParaRPr lang="en-US" sz="890" dirty="0"/>
          </a:p>
        </p:txBody>
      </p:sp>
      <p:sp>
        <p:nvSpPr>
          <p:cNvPr id="10" name="Text 8"/>
          <p:cNvSpPr/>
          <p:nvPr/>
        </p:nvSpPr>
        <p:spPr>
          <a:xfrm>
            <a:off x="3827678" y="1389888"/>
            <a:ext cx="7410298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b="1" dirty="0">
                <a:solidFill>
                  <a:srgbClr val="FFFFFF"/>
                </a:solidFill>
              </a:rPr>
              <a:t>Implementation detail</a:t>
            </a:r>
            <a:endParaRPr lang="en-US" sz="890" dirty="0"/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44546A"/>
                </a:solidFill>
                <a:latin typeface="Aptos"/>
              </a:rPr>
              <a:t>Complete full-universe extraction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182880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  <a:latin typeface="Aptos"/>
              </a:rPr>
              <a:t>Batch Claude run over the ~283 deals under a fixed cost cap; measure the realized-label capture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9748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44546A"/>
                </a:solidFill>
                <a:latin typeface="Aptos"/>
              </a:rPr>
              <a:t>Build the modeling panel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69748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  <a:latin typeface="Aptos"/>
              </a:rPr>
              <a:t>Join WRDS market + ETF/passive ownership onto each event; assemble one row per deal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6616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44546A"/>
                </a:solidFill>
                <a:latin typeface="Aptos"/>
              </a:rPr>
              <a:t>Fit p_active(spread)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56616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  <a:latin typeface="Aptos"/>
              </a:rPr>
              <a:t>Calibrate active-investor cash-election propensity from the realized-demand labels vs. the deadline spread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44546A"/>
                </a:solidFill>
                <a:latin typeface="Aptos"/>
              </a:rPr>
              <a:t>Choose deliverable framing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4348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  <a:latin typeface="Aptos"/>
              </a:rPr>
              <a:t>Large-N regression if capture is high; structural framework + case studies if issuer disclosure limits 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035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44546A"/>
                </a:solidFill>
                <a:latin typeface="Aptos"/>
              </a:rPr>
              <a:t>Mentor discussion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530352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  <a:latin typeface="Aptos"/>
              </a:rPr>
              <a:t>Is ~80% label capture (disclosure-bounded) sufficient, or should we prioritize the structural-model route?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1684</Words>
  <Application>Microsoft Macintosh PowerPoint</Application>
  <PresentationFormat>Widescreen</PresentationFormat>
  <Paragraphs>270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UC Berkeley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JPM Project 3ii Mentor Update</dc:title>
  <dc:subject>JPM Project 3ii weekly update</dc:subject>
  <dc:creator>Xiangyu Wang</dc:creator>
  <cp:lastModifiedBy>Alvin Yu</cp:lastModifiedBy>
  <cp:revision>6</cp:revision>
  <dcterms:created xsi:type="dcterms:W3CDTF">2026-06-26T18:48:15Z</dcterms:created>
  <dcterms:modified xsi:type="dcterms:W3CDTF">2026-07-10T10:37:16Z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960AB006C5CC313B58C93E6AFE06DBCA_42</vt:lpwstr>
  </property>
  <property fmtid="{D5CDD505-2E9C-101B-9397-08002B2CF9AE}" pid="3" name="KSOProductBuildVer">
    <vt:lpwstr>2052-7.3.1.8967</vt:lpwstr>
  </property>
</Properties>
</file>