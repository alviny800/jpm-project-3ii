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5"/>
  </p:notesMasterIdLst>
  <p:sldIdLst>
    <p:sldId id="256" r:id="rId2"/>
    <p:sldId id="270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73" r:id="rId22"/>
    <p:sldId id="271" r:id="rId20"/>
    <p:sldId id="272" r:id="rId21"/>
    <p:sldId id="267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944EC-5CC3-D9EA-751B-64BDE662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318764-D420-0F73-7A11-6A6BF27023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3EF050-67A4-880E-E3DF-1D969C2417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C38784-12ED-E7A8-D3BB-D6133EFEFA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275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58368" y="27432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JPM Project 3ii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046720" y="292608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D7E5FF"/>
                </a:solidFill>
              </a:rPr>
              <a:t>Mentor Weekly Update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58368" y="1965960"/>
            <a:ext cx="10789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315A"/>
                </a:solidFill>
              </a:rPr>
              <a:t>Codebase Workflow Validation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76656" y="2706624"/>
            <a:ext cx="10789920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475569"/>
                </a:solidFill>
              </a:rPr>
              <a:t>Corporate-action election arbitrage - Alvin &amp; Xiangyu</a:t>
            </a:r>
          </a:p>
        </p:txBody>
      </p:sp>
      <p:sp>
        <p:nvSpPr>
          <p:cNvPr id="8" name="Shape 6"/>
          <p:cNvSpPr/>
          <p:nvPr/>
        </p:nvSpPr>
        <p:spPr>
          <a:xfrm>
            <a:off x="676656" y="3886200"/>
            <a:ext cx="342900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 w="12700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59536" y="4059936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563EB"/>
                </a:solidFill>
              </a:rPr>
              <a:t>This week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4379976"/>
            <a:ext cx="3035808" cy="42062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Scale the validated SEC → Claude → WRDS → model pipeline to the full US election universe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53128" y="3886200"/>
            <a:ext cx="342900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 w="12700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636008" y="4059936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563EB"/>
                </a:solidFill>
              </a:rPr>
              <a:t>Test case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636008" y="4379976"/>
            <a:ext cx="3035808" cy="42062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Andeavor / Marathon Petroleum, announced Apr. 30, 2018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0" y="3886200"/>
            <a:ext cx="3429000" cy="1143000"/>
          </a:xfrm>
          <a:prstGeom prst="roundRect">
            <a:avLst>
              <a:gd name="adj" fmla="val 6400"/>
            </a:avLst>
          </a:prstGeom>
          <a:solidFill>
            <a:srgbClr val="F7F9FC"/>
          </a:solidFill>
          <a:ln w="12700">
            <a:solidFill>
              <a:srgbClr val="D9E2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412480" y="4059936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2563EB"/>
                </a:solidFill>
              </a:rPr>
              <a:t>Control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412480" y="4379976"/>
            <a:ext cx="3035808" cy="42062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</a:rPr>
              <a:t>Celgene / BMY confirms the classifier blocks fixed-consideration deals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94944" y="5916168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</a:rPr>
              <a:t>July 10,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BC698-D78D-5BE5-2F54-DE8963F3A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FDCAABBF-4457-3F23-C290-0D04E56C65EA}"/>
              </a:ext>
            </a:extLst>
          </p:cNvPr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D5BFF"/>
          </a:solidFill>
          <a:ln w="12700">
            <a:solidFill>
              <a:srgbClr val="2D5B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89E5DE7-FB3D-25E5-4EED-850CDC2D2C51}"/>
              </a:ext>
            </a:extLst>
          </p:cNvPr>
          <p:cNvSpPr/>
          <p:nvPr/>
        </p:nvSpPr>
        <p:spPr>
          <a:xfrm>
            <a:off x="685800" y="9601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82B4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Weekly Update</a:t>
            </a:r>
            <a:endParaRPr lang="en-US" sz="24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C1B190F-C32F-35EF-F900-6ABDBA393A82}"/>
              </a:ext>
            </a:extLst>
          </p:cNvPr>
          <p:cNvSpPr/>
          <p:nvPr/>
        </p:nvSpPr>
        <p:spPr>
          <a:xfrm>
            <a:off x="685800" y="1554480"/>
            <a:ext cx="1088136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>
              <a:spcAft>
                <a:spcPts val="300"/>
              </a:spcAft>
            </a:pPr>
            <a:r>
              <a:rPr sz="1200" b="1">
                <a:solidFill>
                  <a:srgbClr val="182B49"/>
                </a:solidFill>
              </a:rPr>
              <a:t>Accomplished this week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Completed the full-universe SEC → Claude extraction: 317 deals, 303 with fields, 73 clean election-demand labels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Built the Monte Carlo framework — demand distribution (Beta) → proration mechanics → simulated payoff and portfolio P&amp;L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Validated the demand model out-of-sample: leave-one-out calibration passes (KS p = 0.96), model is honest, not over-confident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Built the trade decision layer (blotter): entry, election side, hedge, sizing and a go/no-go rule — signal skill corr +0.67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Recovered missing acquirer prices via CUSIP → PERMNO (identifier-drift fix, e.g. BB&amp;T→Truist); MC-ready deals 25 → 32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Proved the demand-disclosure ceiling empirically — a sharp-prompt re-extraction recovered ~0; it is non-disclosure, not a tooling gap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200" b="1">
                <a:solidFill>
                  <a:srgbClr val="182B49"/>
                </a:solidFill>
              </a:rPr>
              <a:t>In progress / to do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Survivorship-aware P&amp;L backtest: add the terminated deals and extend prices to close so deal-break risk is priced, not assumed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Calibrate the deal-break probability and entry hurdle from data (currently placeholders: 12% break, 0.5% hurdle)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Censored-demand refinement ($0): fold proration-outcome deals into the Beta fit as bounded demand observations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0F172A"/>
                </a:solidFill>
              </a:rPr>
              <a:t>•  Extend to the private/foreign-acquirer deals as an 'unhedgeable' bucket, and write up the two structural ceilings</a:t>
            </a: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0E6C79C3-950B-DE6B-729C-F12097A5F167}"/>
              </a:ext>
            </a:extLst>
          </p:cNvPr>
          <p:cNvSpPr/>
          <p:nvPr/>
        </p:nvSpPr>
        <p:spPr>
          <a:xfrm>
            <a:off x="685800" y="61264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F6B7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JPM Project 3ii</a:t>
            </a:r>
            <a:endParaRPr lang="en-US" sz="900" dirty="0"/>
          </a:p>
        </p:txBody>
      </p:sp>
      <p:sp>
        <p:nvSpPr>
          <p:cNvPr id="38" name="Text 34">
            <a:extLst>
              <a:ext uri="{FF2B5EF4-FFF2-40B4-BE49-F238E27FC236}">
                <a16:creationId xmlns:a16="http://schemas.microsoft.com/office/drawing/2014/main" id="{13BC52B5-1BFE-F7A8-7C57-07D5AB46CA12}"/>
              </a:ext>
            </a:extLst>
          </p:cNvPr>
          <p:cNvSpPr/>
          <p:nvPr/>
        </p:nvSpPr>
        <p:spPr>
          <a:xfrm>
            <a:off x="792327" y="4060907"/>
            <a:ext cx="1060704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4942847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What changed this week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update is about implementation proof, not only strategy intuition.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2 / 15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822960" y="1645920"/>
            <a:ext cx="10469880" cy="777240"/>
          </a:xfrm>
          <a:prstGeom prst="roundRect">
            <a:avLst>
              <a:gd name="adj" fmla="val 9412"/>
            </a:avLst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60704" y="1828800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563EB"/>
                </a:solidFill>
              </a:rPr>
              <a:t>Pipeline scope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154680" y="1828800"/>
            <a:ext cx="78181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M&amp;A export → SEC evidence → Claude fields → WRDS joins → model-ready row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2761488"/>
            <a:ext cx="10469880" cy="777240"/>
          </a:xfrm>
          <a:prstGeom prst="roundRect">
            <a:avLst>
              <a:gd name="adj" fmla="val 9412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60704" y="294436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563EB"/>
                </a:solidFill>
              </a:rPr>
              <a:t>Validation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154680" y="2944368"/>
            <a:ext cx="78181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Mechanics proven on Andeavor/MPC (Steps 1–8); this week scaled to the ~283-deal universe with the realized-election label now captured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877056"/>
            <a:ext cx="10469880" cy="777240"/>
          </a:xfrm>
          <a:prstGeom prst="roundRect">
            <a:avLst>
              <a:gd name="adj" fmla="val 9412"/>
            </a:avLst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60704" y="4059936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563EB"/>
                </a:solidFill>
              </a:rPr>
              <a:t>Deliverable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154680" y="4059936"/>
            <a:ext cx="781812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</a:rPr>
              <a:t>Auditable intermediate CSV/JSONL files plus v1 prediction and hedge row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Codebase workflow: one event row from four data paths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deck is organized around code modules, inputs, outputs, and validation checks.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3 / 15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1920240" y="202996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721608" y="202996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522976" y="202996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324344" y="202996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125712" y="202996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182880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6656" y="19476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M&amp;A CSV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676656" y="218541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candidate deals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2395728" y="182880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478024" y="19476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SEC locator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2478024" y="218541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download_ma_edgar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4197096" y="182880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279392" y="19476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Claude extraction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4279392" y="218541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canonical fields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5998464" y="182880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080760" y="19476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WRDS market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6080760" y="218541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CRSP prices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7799832" y="182880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882128" y="19476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WRDS ownership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7882128" y="218541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ETF/passive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9601200" y="182880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683496" y="19476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Model builder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9683496" y="218541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EV + hedge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914400" y="3383280"/>
            <a:ext cx="1042416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87552" y="3493008"/>
            <a:ext cx="2373782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Stage</a:t>
            </a:r>
            <a:endParaRPr lang="en-US" sz="890" dirty="0"/>
          </a:p>
        </p:txBody>
      </p:sp>
      <p:sp>
        <p:nvSpPr>
          <p:cNvPr id="33" name="Text 31"/>
          <p:cNvSpPr/>
          <p:nvPr/>
        </p:nvSpPr>
        <p:spPr>
          <a:xfrm>
            <a:off x="3489350" y="3493008"/>
            <a:ext cx="3937406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Primary output</a:t>
            </a:r>
            <a:endParaRPr lang="en-US" sz="890" dirty="0"/>
          </a:p>
        </p:txBody>
      </p:sp>
      <p:sp>
        <p:nvSpPr>
          <p:cNvPr id="34" name="Text 32"/>
          <p:cNvSpPr/>
          <p:nvPr/>
        </p:nvSpPr>
        <p:spPr>
          <a:xfrm>
            <a:off x="7554773" y="3493008"/>
            <a:ext cx="3728923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Validation</a:t>
            </a:r>
            <a:endParaRPr lang="en-US" sz="890" dirty="0"/>
          </a:p>
        </p:txBody>
      </p:sp>
      <p:sp>
        <p:nvSpPr>
          <p:cNvPr id="35" name="Shape 33"/>
          <p:cNvSpPr/>
          <p:nvPr/>
        </p:nvSpPr>
        <p:spPr>
          <a:xfrm>
            <a:off x="914400" y="3767328"/>
            <a:ext cx="10424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987552" y="3867912"/>
            <a:ext cx="237378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SEC retrieval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3489350" y="3867912"/>
            <a:ext cx="393740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manifest_sec_filings.csv</a:t>
            </a:r>
            <a:endParaRPr lang="en-US" sz="880" dirty="0"/>
          </a:p>
        </p:txBody>
      </p:sp>
      <p:sp>
        <p:nvSpPr>
          <p:cNvPr id="38" name="Text 36"/>
          <p:cNvSpPr/>
          <p:nvPr/>
        </p:nvSpPr>
        <p:spPr>
          <a:xfrm>
            <a:off x="7554773" y="3867912"/>
            <a:ext cx="372892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Relevant forms and exhibits found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914400" y="4151376"/>
            <a:ext cx="104241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987552" y="4251960"/>
            <a:ext cx="237378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Field locator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3489350" y="4251960"/>
            <a:ext cx="393740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field_locator.csv / coverage.csv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7554773" y="4251960"/>
            <a:ext cx="372892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Required field evidence ranked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914400" y="4535424"/>
            <a:ext cx="10424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987552" y="4636008"/>
            <a:ext cx="237378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Claude extraction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3489350" y="4636008"/>
            <a:ext cx="393740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llm_field_extractions.csv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7554773" y="4636008"/>
            <a:ext cx="372892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Every canonical field returned or marked not_found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914400" y="4919472"/>
            <a:ext cx="104241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987552" y="5020056"/>
            <a:ext cx="237378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WRDS joins</a:t>
            </a:r>
            <a:endParaRPr lang="en-US" sz="880" dirty="0"/>
          </a:p>
        </p:txBody>
      </p:sp>
      <p:sp>
        <p:nvSpPr>
          <p:cNvPr id="49" name="Text 47"/>
          <p:cNvSpPr/>
          <p:nvPr/>
        </p:nvSpPr>
        <p:spPr>
          <a:xfrm>
            <a:off x="3489350" y="5020056"/>
            <a:ext cx="393740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event_market_features.csv / ownership_mix_by_event.csv</a:t>
            </a:r>
            <a:endParaRPr lang="en-US" sz="880" dirty="0"/>
          </a:p>
        </p:txBody>
      </p:sp>
      <p:sp>
        <p:nvSpPr>
          <p:cNvPr id="50" name="Text 48"/>
          <p:cNvSpPr/>
          <p:nvPr/>
        </p:nvSpPr>
        <p:spPr>
          <a:xfrm>
            <a:off x="7554773" y="5020056"/>
            <a:ext cx="372892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Prices, liquidity, and passive block populated</a:t>
            </a:r>
            <a:endParaRPr lang="en-US" sz="880" dirty="0"/>
          </a:p>
        </p:txBody>
      </p:sp>
      <p:sp>
        <p:nvSpPr>
          <p:cNvPr id="51" name="Shape 49"/>
          <p:cNvSpPr/>
          <p:nvPr/>
        </p:nvSpPr>
        <p:spPr>
          <a:xfrm>
            <a:off x="914400" y="5303520"/>
            <a:ext cx="104241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987552" y="5404104"/>
            <a:ext cx="237378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Model builder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3489350" y="5404104"/>
            <a:ext cx="393740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election_model_predictions.csv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7554773" y="5404104"/>
            <a:ext cx="372892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Fixed deals blocked; election deals produce strategy row</a:t>
            </a:r>
            <a:endParaRPr lang="en-US" sz="8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Step 1 — SEC retrieval implementation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Module: download_ma_edgar_files.py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4 / 15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31520" y="1508760"/>
            <a:ext cx="52120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15A"/>
                </a:solidFill>
              </a:rPr>
              <a:t>Inputs and filters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31520" y="1892808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960120" y="1892808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Bloomberg M&amp;A export with target, acquirer, announcement date, payment type, status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731520" y="2286000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960120" y="2286000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Restrict to completed Cash-or-Stock / Cash-and-Stock candidates for this run</a:t>
            </a:r>
            <a:endParaRPr lang="en-US" sz="1020" dirty="0"/>
          </a:p>
        </p:txBody>
      </p:sp>
      <p:sp>
        <p:nvSpPr>
          <p:cNvPr id="13" name="Text 11"/>
          <p:cNvSpPr/>
          <p:nvPr/>
        </p:nvSpPr>
        <p:spPr>
          <a:xfrm>
            <a:off x="731520" y="2679192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960120" y="267919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Use announcement-centered window: pre-days for setup filings and post-days for labels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6355080" y="1508760"/>
            <a:ext cx="52120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15A"/>
                </a:solidFill>
              </a:rPr>
              <a:t>Retrieval mechanics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355080" y="1892808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6583680" y="1892808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Resolve company names to SEC CIK and preserve diagnostics for ambiguous matches</a:t>
            </a:r>
            <a:endParaRPr lang="en-US" sz="1020" dirty="0"/>
          </a:p>
        </p:txBody>
      </p:sp>
      <p:sp>
        <p:nvSpPr>
          <p:cNvPr id="18" name="Text 16"/>
          <p:cNvSpPr/>
          <p:nvPr/>
        </p:nvSpPr>
        <p:spPr>
          <a:xfrm>
            <a:off x="6355080" y="2286000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6583680" y="2286000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Pull SEC submissions index and download primary filings plus exhibits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6355080" y="2679192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6583680" y="267919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Target forms: S-4/A, 424B3, 8-K, 10-Q/10-K, EX-2.1, EX-99.1 and election materials</a:t>
            </a:r>
            <a:endParaRPr lang="en-US" sz="1020" dirty="0"/>
          </a:p>
        </p:txBody>
      </p:sp>
      <p:sp>
        <p:nvSpPr>
          <p:cNvPr id="22" name="Shape 20"/>
          <p:cNvSpPr/>
          <p:nvPr/>
        </p:nvSpPr>
        <p:spPr>
          <a:xfrm>
            <a:off x="914400" y="4572000"/>
            <a:ext cx="1033272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987552" y="4681728"/>
            <a:ext cx="2351837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Case</a:t>
            </a:r>
            <a:endParaRPr lang="en-US" sz="890" dirty="0"/>
          </a:p>
        </p:txBody>
      </p:sp>
      <p:sp>
        <p:nvSpPr>
          <p:cNvPr id="24" name="Text 22"/>
          <p:cNvSpPr/>
          <p:nvPr/>
        </p:nvSpPr>
        <p:spPr>
          <a:xfrm>
            <a:off x="3467405" y="4681728"/>
            <a:ext cx="3901745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Files found</a:t>
            </a:r>
            <a:endParaRPr lang="en-US" sz="890" dirty="0"/>
          </a:p>
        </p:txBody>
      </p:sp>
      <p:sp>
        <p:nvSpPr>
          <p:cNvPr id="25" name="Text 23"/>
          <p:cNvSpPr/>
          <p:nvPr/>
        </p:nvSpPr>
        <p:spPr>
          <a:xfrm>
            <a:off x="7497166" y="4681728"/>
            <a:ext cx="3695090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Use</a:t>
            </a:r>
            <a:endParaRPr lang="en-US" sz="890" dirty="0"/>
          </a:p>
        </p:txBody>
      </p:sp>
      <p:sp>
        <p:nvSpPr>
          <p:cNvPr id="26" name="Shape 24"/>
          <p:cNvSpPr/>
          <p:nvPr/>
        </p:nvSpPr>
        <p:spPr>
          <a:xfrm>
            <a:off x="914400" y="4956048"/>
            <a:ext cx="103327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987552" y="5056632"/>
            <a:ext cx="2351837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Andeavor/MPC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3467405" y="5056632"/>
            <a:ext cx="3901745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S-4/A, 424B3, 8-K, 10-Q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7497166" y="5056632"/>
            <a:ext cx="3695090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Terms, default rule, final allocation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914400" y="5340096"/>
            <a:ext cx="1033272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987552" y="5440680"/>
            <a:ext cx="2351837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Celgene/BMY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3467405" y="5440680"/>
            <a:ext cx="3901745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Mixed-consideration files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7497166" y="5440680"/>
            <a:ext cx="3695090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Negative control for non-election classification</a:t>
            </a:r>
            <a:endParaRPr lang="en-US" sz="8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Step 2 — Field locator turns files into evidence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Modules: field_specs.json + download_ma_edgar_files.py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5 / 15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777240" y="1417320"/>
            <a:ext cx="1065276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50392" y="1527048"/>
            <a:ext cx="2641702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Component</a:t>
            </a:r>
            <a:endParaRPr lang="en-US" sz="890" dirty="0"/>
          </a:p>
        </p:txBody>
      </p:sp>
      <p:sp>
        <p:nvSpPr>
          <p:cNvPr id="10" name="Text 8"/>
          <p:cNvSpPr/>
          <p:nvPr/>
        </p:nvSpPr>
        <p:spPr>
          <a:xfrm>
            <a:off x="3620110" y="1527048"/>
            <a:ext cx="7755026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Implementation</a:t>
            </a:r>
            <a:endParaRPr lang="en-US" sz="890" dirty="0"/>
          </a:p>
        </p:txBody>
      </p:sp>
      <p:sp>
        <p:nvSpPr>
          <p:cNvPr id="11" name="Shape 9"/>
          <p:cNvSpPr/>
          <p:nvPr/>
        </p:nvSpPr>
        <p:spPr>
          <a:xfrm>
            <a:off x="777240" y="1801368"/>
            <a:ext cx="10652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50392" y="1901952"/>
            <a:ext cx="264170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Canonical field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3620110" y="1901952"/>
            <a:ext cx="775502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Required flag, timing bucket, preferred forms, keywords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777240" y="2185416"/>
            <a:ext cx="106527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0392" y="2286000"/>
            <a:ext cx="264170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Scoring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3620110" y="2286000"/>
            <a:ext cx="775502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Keyword hits + form priority + top-k evidence snippets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777240" y="2569464"/>
            <a:ext cx="10652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50392" y="2670048"/>
            <a:ext cx="264170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Audit gate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3620110" y="2670048"/>
            <a:ext cx="775502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missing_required=True identifies deals not ready for extraction/modeling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777240" y="2953512"/>
            <a:ext cx="106527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50392" y="3054096"/>
            <a:ext cx="264170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Claude package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3620110" y="3054096"/>
            <a:ext cx="775502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evidence_index.json, claude_prompt.txt, selected filings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1325880" y="4160520"/>
            <a:ext cx="9555480" cy="1005840"/>
          </a:xfrm>
          <a:prstGeom prst="roundRect">
            <a:avLst>
              <a:gd name="adj" fmla="val 7273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691640" y="4462272"/>
            <a:ext cx="8823960" cy="27432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315A"/>
                </a:solidFill>
              </a:rPr>
              <a:t>Design choice: evidence is ranked before Claude sees it, so the LLM is used for structured extraction rather than open-ended document search.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Step 3 — Claude extraction has a strict output contract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code expects field-level JSON, not prose summaries.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6 / 15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77240" y="1325880"/>
            <a:ext cx="5303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15A"/>
                </a:solidFill>
              </a:rPr>
              <a:t>Return schema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1709928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1005840" y="1709928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fields object includes every requested canonical field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777240" y="2103120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1005840" y="2103120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Each field returns value, basis, evidence, source form, filing date, confidence, notes</a:t>
            </a:r>
            <a:endParaRPr lang="en-US" sz="1020" dirty="0"/>
          </a:p>
        </p:txBody>
      </p:sp>
      <p:sp>
        <p:nvSpPr>
          <p:cNvPr id="13" name="Text 11"/>
          <p:cNvSpPr/>
          <p:nvPr/>
        </p:nvSpPr>
        <p:spPr>
          <a:xfrm>
            <a:off x="777240" y="2496312"/>
            <a:ext cx="137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dirty="0">
                <a:solidFill>
                  <a:srgbClr val="2563EB"/>
                </a:solidFill>
              </a:rPr>
              <a:t>•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1005840" y="2496312"/>
            <a:ext cx="5029200" cy="25603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0F172A"/>
                </a:solidFill>
              </a:rPr>
              <a:t>Unsupported fields return value=null and basis=not_found rather than being omitted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6355080" y="1508760"/>
            <a:ext cx="498348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28232" y="1618488"/>
            <a:ext cx="1715872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Field</a:t>
            </a:r>
            <a:endParaRPr lang="en-US" sz="890" dirty="0"/>
          </a:p>
        </p:txBody>
      </p:sp>
      <p:sp>
        <p:nvSpPr>
          <p:cNvPr id="17" name="Text 15"/>
          <p:cNvSpPr/>
          <p:nvPr/>
        </p:nvSpPr>
        <p:spPr>
          <a:xfrm>
            <a:off x="8272120" y="1618488"/>
            <a:ext cx="3011576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Andeavor/MPC value</a:t>
            </a:r>
            <a:endParaRPr lang="en-US" sz="890" dirty="0"/>
          </a:p>
        </p:txBody>
      </p:sp>
      <p:sp>
        <p:nvSpPr>
          <p:cNvPr id="18" name="Shape 16"/>
          <p:cNvSpPr/>
          <p:nvPr/>
        </p:nvSpPr>
        <p:spPr>
          <a:xfrm>
            <a:off x="6355080" y="1892808"/>
            <a:ext cx="4983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28232" y="1993392"/>
            <a:ext cx="171587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cash_consideration</a:t>
            </a:r>
            <a:endParaRPr lang="en-US" sz="880" dirty="0"/>
          </a:p>
        </p:txBody>
      </p:sp>
      <p:sp>
        <p:nvSpPr>
          <p:cNvPr id="20" name="Text 18"/>
          <p:cNvSpPr/>
          <p:nvPr/>
        </p:nvSpPr>
        <p:spPr>
          <a:xfrm>
            <a:off x="8272120" y="1993392"/>
            <a:ext cx="301157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$152.27 per ANDV share</a:t>
            </a:r>
            <a:endParaRPr lang="en-US" sz="880" dirty="0"/>
          </a:p>
        </p:txBody>
      </p:sp>
      <p:sp>
        <p:nvSpPr>
          <p:cNvPr id="21" name="Shape 19"/>
          <p:cNvSpPr/>
          <p:nvPr/>
        </p:nvSpPr>
        <p:spPr>
          <a:xfrm>
            <a:off x="6355080" y="2276856"/>
            <a:ext cx="498348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428232" y="2377440"/>
            <a:ext cx="171587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exchange_ratio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8272120" y="2377440"/>
            <a:ext cx="301157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1.87 MPC shares per ANDV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6355080" y="2660904"/>
            <a:ext cx="4983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428232" y="2761488"/>
            <a:ext cx="171587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cash_cap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8272120" y="2761488"/>
            <a:ext cx="301157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22,885,359 shares / ~15%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6355080" y="3044952"/>
            <a:ext cx="498348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28232" y="3145536"/>
            <a:ext cx="171587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stock_cap</a:t>
            </a:r>
            <a:endParaRPr lang="en-US" sz="880" dirty="0"/>
          </a:p>
        </p:txBody>
      </p:sp>
      <p:sp>
        <p:nvSpPr>
          <p:cNvPr id="29" name="Text 27"/>
          <p:cNvSpPr/>
          <p:nvPr/>
        </p:nvSpPr>
        <p:spPr>
          <a:xfrm>
            <a:off x="8272120" y="3145536"/>
            <a:ext cx="301157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Remainder / ~85%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6355080" y="3429000"/>
            <a:ext cx="49834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28232" y="3529584"/>
            <a:ext cx="171587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default_rule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8272120" y="3529584"/>
            <a:ext cx="301157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No/late/invalid/revoked election → stock</a:t>
            </a:r>
            <a:endParaRPr lang="en-US" sz="8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Step 4 — WRDS joins populate market and passive-ownership inputs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Modules: download_wrds_market_data.py and download_ownership_etf_data.py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7 / 15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731520" y="1481328"/>
            <a:ext cx="539496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04672" y="1591056"/>
            <a:ext cx="2461565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Market field</a:t>
            </a:r>
            <a:endParaRPr lang="en-US" sz="890" dirty="0"/>
          </a:p>
        </p:txBody>
      </p:sp>
      <p:sp>
        <p:nvSpPr>
          <p:cNvPr id="10" name="Text 8"/>
          <p:cNvSpPr/>
          <p:nvPr/>
        </p:nvSpPr>
        <p:spPr>
          <a:xfrm>
            <a:off x="3394253" y="1591056"/>
            <a:ext cx="2677363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Value</a:t>
            </a:r>
            <a:endParaRPr lang="en-US" sz="890" dirty="0"/>
          </a:p>
        </p:txBody>
      </p:sp>
      <p:sp>
        <p:nvSpPr>
          <p:cNvPr id="11" name="Shape 9"/>
          <p:cNvSpPr/>
          <p:nvPr/>
        </p:nvSpPr>
        <p:spPr>
          <a:xfrm>
            <a:off x="731520" y="1865376"/>
            <a:ext cx="53949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04672" y="1965960"/>
            <a:ext cx="2461565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ANDV target price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3394253" y="1965960"/>
            <a:ext cx="267736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$138.32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731520" y="2249424"/>
            <a:ext cx="53949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04672" y="2350008"/>
            <a:ext cx="2461565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MPC acquirer price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3394253" y="2350008"/>
            <a:ext cx="267736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$74.91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731520" y="2633472"/>
            <a:ext cx="53949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04672" y="2734056"/>
            <a:ext cx="2461565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Stock-election value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3394253" y="2734056"/>
            <a:ext cx="267736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$140.08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731520" y="3017520"/>
            <a:ext cx="53949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04672" y="3118104"/>
            <a:ext cx="2461565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Cash-election value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3394253" y="3118104"/>
            <a:ext cx="267736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$152.27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31520" y="3401568"/>
            <a:ext cx="53949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04672" y="3502152"/>
            <a:ext cx="2461565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Target ADV20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3394253" y="3502152"/>
            <a:ext cx="267736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2.53 million shares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731520" y="3785616"/>
            <a:ext cx="53949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04672" y="3886200"/>
            <a:ext cx="2461565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Target market cap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3394253" y="3886200"/>
            <a:ext cx="2677363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$20.9 billion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6400800" y="1481328"/>
            <a:ext cx="507492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473952" y="1591056"/>
            <a:ext cx="2510942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Ownership field</a:t>
            </a:r>
            <a:endParaRPr lang="en-US" sz="890" dirty="0"/>
          </a:p>
        </p:txBody>
      </p:sp>
      <p:sp>
        <p:nvSpPr>
          <p:cNvPr id="31" name="Text 29"/>
          <p:cNvSpPr/>
          <p:nvPr/>
        </p:nvSpPr>
        <p:spPr>
          <a:xfrm>
            <a:off x="9112910" y="1591056"/>
            <a:ext cx="2307946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Value</a:t>
            </a:r>
            <a:endParaRPr lang="en-US" sz="890" dirty="0"/>
          </a:p>
        </p:txBody>
      </p:sp>
      <p:sp>
        <p:nvSpPr>
          <p:cNvPr id="32" name="Shape 30"/>
          <p:cNvSpPr/>
          <p:nvPr/>
        </p:nvSpPr>
        <p:spPr>
          <a:xfrm>
            <a:off x="6400800" y="1865376"/>
            <a:ext cx="50749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473952" y="1965960"/>
            <a:ext cx="25109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Historical ticker</a:t>
            </a:r>
            <a:endParaRPr lang="en-US" sz="880" dirty="0"/>
          </a:p>
        </p:txBody>
      </p:sp>
      <p:sp>
        <p:nvSpPr>
          <p:cNvPr id="34" name="Text 32"/>
          <p:cNvSpPr/>
          <p:nvPr/>
        </p:nvSpPr>
        <p:spPr>
          <a:xfrm>
            <a:off x="9112910" y="1965960"/>
            <a:ext cx="230794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ANDV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6400800" y="2249424"/>
            <a:ext cx="507492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473952" y="2350008"/>
            <a:ext cx="25109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CRSP PERMNO</a:t>
            </a:r>
            <a:endParaRPr lang="en-US" sz="880" dirty="0"/>
          </a:p>
        </p:txBody>
      </p:sp>
      <p:sp>
        <p:nvSpPr>
          <p:cNvPr id="37" name="Text 35"/>
          <p:cNvSpPr/>
          <p:nvPr/>
        </p:nvSpPr>
        <p:spPr>
          <a:xfrm>
            <a:off x="9112910" y="2350008"/>
            <a:ext cx="230794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37284</a:t>
            </a:r>
            <a:endParaRPr lang="en-US" sz="880" dirty="0"/>
          </a:p>
        </p:txBody>
      </p:sp>
      <p:sp>
        <p:nvSpPr>
          <p:cNvPr id="38" name="Shape 36"/>
          <p:cNvSpPr/>
          <p:nvPr/>
        </p:nvSpPr>
        <p:spPr>
          <a:xfrm>
            <a:off x="6400800" y="2633472"/>
            <a:ext cx="50749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473952" y="2734056"/>
            <a:ext cx="25109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Matched CUSIP</a:t>
            </a:r>
            <a:endParaRPr lang="en-US" sz="880" dirty="0"/>
          </a:p>
        </p:txBody>
      </p:sp>
      <p:sp>
        <p:nvSpPr>
          <p:cNvPr id="40" name="Text 38"/>
          <p:cNvSpPr/>
          <p:nvPr/>
        </p:nvSpPr>
        <p:spPr>
          <a:xfrm>
            <a:off x="9112910" y="2734056"/>
            <a:ext cx="230794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03349M10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6400800" y="3017520"/>
            <a:ext cx="507492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473952" y="3118104"/>
            <a:ext cx="25109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ETF/index-fund exposure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9112910" y="3118104"/>
            <a:ext cx="230794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26.75 million shares</a:t>
            </a:r>
            <a:endParaRPr lang="en-US" sz="880" dirty="0"/>
          </a:p>
        </p:txBody>
      </p:sp>
      <p:sp>
        <p:nvSpPr>
          <p:cNvPr id="44" name="Shape 42"/>
          <p:cNvSpPr/>
          <p:nvPr/>
        </p:nvSpPr>
        <p:spPr>
          <a:xfrm>
            <a:off x="6400800" y="3401568"/>
            <a:ext cx="507492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473952" y="3502152"/>
            <a:ext cx="25109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Holder count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9112910" y="3502152"/>
            <a:ext cx="230794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232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400800" y="3785616"/>
            <a:ext cx="507492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473952" y="3886200"/>
            <a:ext cx="25109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Passive ownership estimate</a:t>
            </a:r>
            <a:endParaRPr lang="en-US" sz="880" dirty="0"/>
          </a:p>
        </p:txBody>
      </p:sp>
      <p:sp>
        <p:nvSpPr>
          <p:cNvPr id="49" name="Text 47"/>
          <p:cNvSpPr/>
          <p:nvPr/>
        </p:nvSpPr>
        <p:spPr>
          <a:xfrm>
            <a:off x="9112910" y="3886200"/>
            <a:ext cx="230794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17.7%</a:t>
            </a:r>
            <a:endParaRPr lang="en-US" sz="8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Step 5 — Model builder merges, audits, then blocks or predicts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Module: build_election_strategy_model.py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8 / 15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1920240" y="161848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721608" y="161848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522976" y="161848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324344" y="161848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9125712" y="1618488"/>
            <a:ext cx="182880" cy="27432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141732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76656" y="153619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SEC/Claude</a:t>
            </a:r>
            <a:endParaRPr lang="en-US" sz="880" dirty="0"/>
          </a:p>
        </p:txBody>
      </p:sp>
      <p:sp>
        <p:nvSpPr>
          <p:cNvPr id="15" name="Text 13"/>
          <p:cNvSpPr/>
          <p:nvPr/>
        </p:nvSpPr>
        <p:spPr>
          <a:xfrm>
            <a:off x="676656" y="177393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legal terms</a:t>
            </a:r>
            <a:endParaRPr lang="en-US" sz="720" dirty="0"/>
          </a:p>
        </p:txBody>
      </p:sp>
      <p:sp>
        <p:nvSpPr>
          <p:cNvPr id="16" name="Shape 14"/>
          <p:cNvSpPr/>
          <p:nvPr/>
        </p:nvSpPr>
        <p:spPr>
          <a:xfrm>
            <a:off x="2395728" y="141732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478024" y="153619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WRDS market</a:t>
            </a:r>
            <a:endParaRPr lang="en-US" sz="880" dirty="0"/>
          </a:p>
        </p:txBody>
      </p:sp>
      <p:sp>
        <p:nvSpPr>
          <p:cNvPr id="18" name="Text 16"/>
          <p:cNvSpPr/>
          <p:nvPr/>
        </p:nvSpPr>
        <p:spPr>
          <a:xfrm>
            <a:off x="2478024" y="177393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price/liquidity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4197096" y="141732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279392" y="153619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WRDS ownership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4279392" y="177393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passive block</a:t>
            </a:r>
            <a:endParaRPr lang="en-US" sz="720" dirty="0"/>
          </a:p>
        </p:txBody>
      </p:sp>
      <p:sp>
        <p:nvSpPr>
          <p:cNvPr id="22" name="Shape 20"/>
          <p:cNvSpPr/>
          <p:nvPr/>
        </p:nvSpPr>
        <p:spPr>
          <a:xfrm>
            <a:off x="5998464" y="141732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080760" y="153619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coverage audit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6080760" y="177393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field status</a:t>
            </a:r>
            <a:endParaRPr lang="en-US" sz="720" dirty="0"/>
          </a:p>
        </p:txBody>
      </p:sp>
      <p:sp>
        <p:nvSpPr>
          <p:cNvPr id="25" name="Shape 23"/>
          <p:cNvSpPr/>
          <p:nvPr/>
        </p:nvSpPr>
        <p:spPr>
          <a:xfrm>
            <a:off x="7799832" y="141732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882128" y="153619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deal classifier</a:t>
            </a:r>
            <a:endParaRPr lang="en-US" sz="880" dirty="0"/>
          </a:p>
        </p:txBody>
      </p:sp>
      <p:sp>
        <p:nvSpPr>
          <p:cNvPr id="27" name="Text 25"/>
          <p:cNvSpPr/>
          <p:nvPr/>
        </p:nvSpPr>
        <p:spPr>
          <a:xfrm>
            <a:off x="7882128" y="177393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block/predict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9601200" y="1417320"/>
            <a:ext cx="1298448" cy="676656"/>
          </a:xfrm>
          <a:prstGeom prst="roundRect">
            <a:avLst>
              <a:gd name="adj" fmla="val 1081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683496" y="153619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80" b="1" dirty="0">
                <a:solidFill>
                  <a:srgbClr val="14315A"/>
                </a:solidFill>
              </a:rPr>
              <a:t>strategy row</a:t>
            </a:r>
            <a:endParaRPr lang="en-US" sz="880" dirty="0"/>
          </a:p>
        </p:txBody>
      </p:sp>
      <p:sp>
        <p:nvSpPr>
          <p:cNvPr id="30" name="Text 28"/>
          <p:cNvSpPr/>
          <p:nvPr/>
        </p:nvSpPr>
        <p:spPr>
          <a:xfrm>
            <a:off x="9683496" y="1773936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20" dirty="0">
                <a:solidFill>
                  <a:srgbClr val="475569"/>
                </a:solidFill>
              </a:rPr>
              <a:t>EV + hedge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914400" y="2880360"/>
            <a:ext cx="1037844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987552" y="2990088"/>
            <a:ext cx="3400654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Validation check</a:t>
            </a:r>
            <a:endParaRPr lang="en-US" sz="890" dirty="0"/>
          </a:p>
        </p:txBody>
      </p:sp>
      <p:sp>
        <p:nvSpPr>
          <p:cNvPr id="33" name="Text 31"/>
          <p:cNvSpPr/>
          <p:nvPr/>
        </p:nvSpPr>
        <p:spPr>
          <a:xfrm>
            <a:off x="4516222" y="2990088"/>
            <a:ext cx="6721754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Result in this run</a:t>
            </a:r>
            <a:endParaRPr lang="en-US" sz="890" dirty="0"/>
          </a:p>
        </p:txBody>
      </p:sp>
      <p:sp>
        <p:nvSpPr>
          <p:cNvPr id="34" name="Shape 32"/>
          <p:cNvSpPr/>
          <p:nvPr/>
        </p:nvSpPr>
        <p:spPr>
          <a:xfrm>
            <a:off x="914400" y="3264408"/>
            <a:ext cx="103784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987552" y="3364992"/>
            <a:ext cx="340065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Fixed-consideration control</a:t>
            </a:r>
            <a:endParaRPr lang="en-US" sz="880" dirty="0"/>
          </a:p>
        </p:txBody>
      </p:sp>
      <p:sp>
        <p:nvSpPr>
          <p:cNvPr id="36" name="Text 34"/>
          <p:cNvSpPr/>
          <p:nvPr/>
        </p:nvSpPr>
        <p:spPr>
          <a:xfrm>
            <a:off x="4516222" y="3364992"/>
            <a:ext cx="672175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Celgene/BMY blocked as fixed_consideration_no_shareholder_election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914400" y="3648456"/>
            <a:ext cx="1037844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987552" y="3749040"/>
            <a:ext cx="340065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Election/proration readiness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4516222" y="3749040"/>
            <a:ext cx="672175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Andeavor/MPC has menu, caps, formula, default rule, prices, passive block</a:t>
            </a:r>
            <a:endParaRPr lang="en-US" sz="880" dirty="0"/>
          </a:p>
        </p:txBody>
      </p:sp>
      <p:sp>
        <p:nvSpPr>
          <p:cNvPr id="40" name="Shape 38"/>
          <p:cNvSpPr/>
          <p:nvPr/>
        </p:nvSpPr>
        <p:spPr>
          <a:xfrm>
            <a:off x="914400" y="4032504"/>
            <a:ext cx="103784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87552" y="4133088"/>
            <a:ext cx="340065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Trade-entry discipline</a:t>
            </a:r>
            <a:endParaRPr lang="en-US" sz="880" dirty="0"/>
          </a:p>
        </p:txBody>
      </p:sp>
      <p:sp>
        <p:nvSpPr>
          <p:cNvPr id="42" name="Text 40"/>
          <p:cNvSpPr/>
          <p:nvPr/>
        </p:nvSpPr>
        <p:spPr>
          <a:xfrm>
            <a:off x="4516222" y="4133088"/>
            <a:ext cx="672175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Final allocation is kept as label; not used as an entry-time feature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914400" y="4416552"/>
            <a:ext cx="1037844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987552" y="4517136"/>
            <a:ext cx="340065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Missing data behavior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4516222" y="4517136"/>
            <a:ext cx="6721754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Raw election demand marked unavailable rather than fabricated</a:t>
            </a:r>
            <a:endParaRPr lang="en-US" sz="8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Step 6 — Payoff engine prices both election choices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SEC fields provide legal terms; WRDS fields provide prices.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9 / 15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868680" y="1325880"/>
            <a:ext cx="10378440" cy="530352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097280" y="1490472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</a:rPr>
              <a:t>Inputs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46120" y="1463040"/>
            <a:ext cx="75438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</a:rPr>
              <a:t>C = $152.27, r = 1.87, P_A = $74.91, P_T = $138.32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" y="2103120"/>
            <a:ext cx="10378440" cy="530352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97280" y="2267712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</a:rPr>
              <a:t>Menu values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246120" y="2240280"/>
            <a:ext cx="75438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</a:rPr>
              <a:t>V_cash = C = $152.27;  V_stock = r × P_A = $140.08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68680" y="2880360"/>
            <a:ext cx="10378440" cy="530352"/>
          </a:xfrm>
          <a:prstGeom prst="roundRect">
            <a:avLst>
              <a:gd name="adj" fmla="val 862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97280" y="3044952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</a:rPr>
              <a:t>Favored election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46120" y="3017520"/>
            <a:ext cx="75438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0F172A"/>
                </a:solidFill>
              </a:rPr>
              <a:t>argmax(V_cash, V_stock) = cash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68680" y="3657600"/>
            <a:ext cx="10378440" cy="530352"/>
          </a:xfrm>
          <a:prstGeom prst="roundRect">
            <a:avLst>
              <a:gd name="adj" fmla="val 8621"/>
            </a:avLst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097280" y="3822192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</a:rPr>
              <a:t>Pre-proration spread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46120" y="3794760"/>
            <a:ext cx="7543800" cy="201168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0F172A"/>
                </a:solidFill>
              </a:rPr>
              <a:t>$152.27 − $138.32 = $13.95 per ANDV share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828800" y="4892040"/>
            <a:ext cx="85039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148840" y="5138928"/>
            <a:ext cx="7863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315A"/>
                </a:solidFill>
              </a:rPr>
              <a:t>This is the first point where SEC legal fields and WRDS pricing data become one trade-entry value.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Step 7 — Proration model converts demand into EV and alpha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smoke test uses simple v1 assumptions so the full data loop can be verified first.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10 / 15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777240" y="1280160"/>
            <a:ext cx="1065276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50392" y="1389888"/>
            <a:ext cx="2854757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Calculation</a:t>
            </a:r>
            <a:endParaRPr lang="en-US" sz="890" dirty="0"/>
          </a:p>
        </p:txBody>
      </p:sp>
      <p:sp>
        <p:nvSpPr>
          <p:cNvPr id="10" name="Text 8"/>
          <p:cNvSpPr/>
          <p:nvPr/>
        </p:nvSpPr>
        <p:spPr>
          <a:xfrm>
            <a:off x="3833165" y="1389888"/>
            <a:ext cx="7541971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Smoke-test output</a:t>
            </a:r>
            <a:endParaRPr lang="en-US" sz="890" dirty="0"/>
          </a:p>
        </p:txBody>
      </p:sp>
      <p:sp>
        <p:nvSpPr>
          <p:cNvPr id="11" name="Shape 9"/>
          <p:cNvSpPr/>
          <p:nvPr/>
        </p:nvSpPr>
        <p:spPr>
          <a:xfrm>
            <a:off x="777240" y="1664208"/>
            <a:ext cx="10652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50392" y="1764792"/>
            <a:ext cx="2854757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Passive block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3833165" y="1764792"/>
            <a:ext cx="7541971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p = 17.7%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777240" y="2048256"/>
            <a:ext cx="106527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50392" y="2148840"/>
            <a:ext cx="2854757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Predicted cash demand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3833165" y="2148840"/>
            <a:ext cx="7541971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D_cash = (1 − p) × 85% + p × 10% = 71.7%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777240" y="2432304"/>
            <a:ext cx="10652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50392" y="2532888"/>
            <a:ext cx="2854757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Cash fill rate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3833165" y="2532888"/>
            <a:ext cx="7541971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f_cash = min(1, 15.0% / 71.7%) = 20.9%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777240" y="2816352"/>
            <a:ext cx="1065276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50392" y="2916936"/>
            <a:ext cx="2854757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Expected value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3833165" y="2916936"/>
            <a:ext cx="7541971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EV = 20.9% × $152.27 + 79.1% × $140.08 = $142.63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777240" y="3200400"/>
            <a:ext cx="106527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50392" y="3300984"/>
            <a:ext cx="2854757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Net alpha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3833165" y="3300984"/>
            <a:ext cx="7541971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$142.63 − $138.32 − 10bp cost = $4.17 per share</a:t>
            </a:r>
            <a:endParaRPr lang="en-US" sz="880" dirty="0"/>
          </a:p>
        </p:txBody>
      </p:sp>
      <p:sp>
        <p:nvSpPr>
          <p:cNvPr id="26" name="Text 24"/>
          <p:cNvSpPr/>
          <p:nvPr/>
        </p:nvSpPr>
        <p:spPr>
          <a:xfrm>
            <a:off x="868680" y="5532120"/>
            <a:ext cx="9692640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475569"/>
                </a:solidFill>
              </a:rPr>
              <a:t>V1 constants: borrow cost = 0; borrow availability = 1; short interest = 0.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Step 8 — Strategy row and output files are generated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12064" y="923544"/>
            <a:ext cx="1060704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75569"/>
                </a:solidFill>
              </a:rPr>
              <a:t>The output is auditable from raw files to final prediction.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11 / 15</a:t>
            </a:r>
            <a:endParaRPr lang="en-US" sz="780" dirty="0"/>
          </a:p>
        </p:txBody>
      </p:sp>
      <p:sp>
        <p:nvSpPr>
          <p:cNvPr id="8" name="Shape 6"/>
          <p:cNvSpPr/>
          <p:nvPr/>
        </p:nvSpPr>
        <p:spPr>
          <a:xfrm>
            <a:off x="777240" y="1481328"/>
            <a:ext cx="3657600" cy="1417320"/>
          </a:xfrm>
          <a:prstGeom prst="roundRect">
            <a:avLst>
              <a:gd name="adj" fmla="val 5161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172821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</a:rPr>
              <a:t>Strategy row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2029968"/>
            <a:ext cx="3291840" cy="566928"/>
          </a:xfrm>
          <a:prstGeom prst="rect">
            <a:avLst/>
          </a:prstGeom>
          <a:noFill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</a:rPr>
              <a:t>+1.000 ANDV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</a:rPr>
              <a:t>Elect cash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</a:rPr>
              <a:t>−1.479 MPC hedge</a:t>
            </a:r>
            <a:endParaRPr lang="en-US" sz="1220" dirty="0"/>
          </a:p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</a:rPr>
              <a:t>Signal: paper trade</a:t>
            </a:r>
            <a:endParaRPr lang="en-US" sz="1220" dirty="0"/>
          </a:p>
        </p:txBody>
      </p:sp>
      <p:sp>
        <p:nvSpPr>
          <p:cNvPr id="11" name="Shape 9"/>
          <p:cNvSpPr/>
          <p:nvPr/>
        </p:nvSpPr>
        <p:spPr>
          <a:xfrm>
            <a:off x="4754880" y="1481328"/>
            <a:ext cx="6629400" cy="384048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28032" y="1591056"/>
            <a:ext cx="2722626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Output file</a:t>
            </a:r>
            <a:endParaRPr lang="en-US" sz="890" dirty="0"/>
          </a:p>
        </p:txBody>
      </p:sp>
      <p:sp>
        <p:nvSpPr>
          <p:cNvPr id="13" name="Text 11"/>
          <p:cNvSpPr/>
          <p:nvPr/>
        </p:nvSpPr>
        <p:spPr>
          <a:xfrm>
            <a:off x="7678674" y="1591056"/>
            <a:ext cx="3650742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Purpose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4754880" y="1865376"/>
            <a:ext cx="6629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28032" y="1965960"/>
            <a:ext cx="272262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model_input_panel.csv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7678674" y="1965960"/>
            <a:ext cx="36507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Merged legal, ownership, and market event row</a:t>
            </a:r>
            <a:endParaRPr lang="en-US" sz="880" dirty="0"/>
          </a:p>
        </p:txBody>
      </p:sp>
      <p:sp>
        <p:nvSpPr>
          <p:cNvPr id="17" name="Shape 15"/>
          <p:cNvSpPr/>
          <p:nvPr/>
        </p:nvSpPr>
        <p:spPr>
          <a:xfrm>
            <a:off x="4754880" y="2249424"/>
            <a:ext cx="662940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28032" y="2350008"/>
            <a:ext cx="272262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variable_coverage_report.csv</a:t>
            </a:r>
            <a:endParaRPr lang="en-US" sz="880" dirty="0"/>
          </a:p>
        </p:txBody>
      </p:sp>
      <p:sp>
        <p:nvSpPr>
          <p:cNvPr id="19" name="Text 17"/>
          <p:cNvSpPr/>
          <p:nvPr/>
        </p:nvSpPr>
        <p:spPr>
          <a:xfrm>
            <a:off x="7678674" y="2350008"/>
            <a:ext cx="36507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Available / missing / assumed status by field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754880" y="2633472"/>
            <a:ext cx="662940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28032" y="2734056"/>
            <a:ext cx="272262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election_model_predictions.csv</a:t>
            </a:r>
            <a:endParaRPr lang="en-US" sz="880" dirty="0"/>
          </a:p>
        </p:txBody>
      </p:sp>
      <p:sp>
        <p:nvSpPr>
          <p:cNvPr id="22" name="Text 20"/>
          <p:cNvSpPr/>
          <p:nvPr/>
        </p:nvSpPr>
        <p:spPr>
          <a:xfrm>
            <a:off x="7678674" y="2734056"/>
            <a:ext cx="36507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Predicted demand, fill rate, EV, alpha, hedge ratio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754880" y="3017520"/>
            <a:ext cx="6629400" cy="384048"/>
          </a:xfrm>
          <a:prstGeom prst="rect">
            <a:avLst/>
          </a:prstGeom>
          <a:solidFill>
            <a:srgbClr val="F7F9FC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28032" y="3118104"/>
            <a:ext cx="2722626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model_run_summary.json</a:t>
            </a:r>
            <a:endParaRPr lang="en-US" sz="880" dirty="0"/>
          </a:p>
        </p:txBody>
      </p:sp>
      <p:sp>
        <p:nvSpPr>
          <p:cNvPr id="25" name="Text 23"/>
          <p:cNvSpPr/>
          <p:nvPr/>
        </p:nvSpPr>
        <p:spPr>
          <a:xfrm>
            <a:off x="7678674" y="3118104"/>
            <a:ext cx="3650742" cy="164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F172A"/>
                </a:solidFill>
              </a:rPr>
              <a:t>Run-level counts and diagnostics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777240" y="3794760"/>
            <a:ext cx="10607040" cy="1051560"/>
          </a:xfrm>
          <a:prstGeom prst="roundRect">
            <a:avLst>
              <a:gd name="adj" fmla="val 6957"/>
            </a:avLst>
          </a:prstGeom>
          <a:solidFill>
            <a:srgbClr val="F7F9FC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1005840" y="4050792"/>
            <a:ext cx="19202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315A"/>
                </a:solidFill>
              </a:rPr>
              <a:t>What this establishes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3337560" y="4050792"/>
            <a:ext cx="7589520" cy="2286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0F172A"/>
                </a:solidFill>
              </a:rPr>
              <a:t>The codebase can move from filings and WRDS tables to a model-ready event row without manual spreadsheet construction.</a:t>
            </a:r>
            <a:endParaRPr lang="en-US" sz="12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315A"/>
                </a:solidFill>
              </a:rPr>
              <a:t>Updated pipeline — extraction to Monte Carlo to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923544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</a:rPr>
              <a:t>Full current flow: 2,068 raw deals → 73 clean labels → a calibrated model → a trade blotter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</a:rPr>
              <a:t>JPM Project 3ii · Weekly workflow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481328"/>
            <a:ext cx="1417320" cy="676656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600200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80" b="1">
                <a:solidFill>
                  <a:srgbClr val="14315A"/>
                </a:solidFill>
              </a:rPr>
              <a:t>Universe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837944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" b="0">
                <a:solidFill>
                  <a:srgbClr val="475569"/>
                </a:solidFill>
              </a:rPr>
              <a:t>2,068 → 317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7400" y="1737360"/>
            <a:ext cx="146304" cy="18288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68879" y="1481328"/>
            <a:ext cx="1417320" cy="676656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51175" y="1600200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80" b="1">
                <a:solidFill>
                  <a:srgbClr val="14315A"/>
                </a:solidFill>
              </a:rPr>
              <a:t>SEC + Claude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1175" y="1837944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" b="0">
                <a:solidFill>
                  <a:srgbClr val="475569"/>
                </a:solidFill>
              </a:rPr>
              <a:t>field extraction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1737360"/>
            <a:ext cx="146304" cy="18288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481328"/>
            <a:ext cx="1417320" cy="676656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1600200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80" b="1">
                <a:solidFill>
                  <a:srgbClr val="14315A"/>
                </a:solidFill>
              </a:rPr>
              <a:t>WRDS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1837944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" b="0">
                <a:solidFill>
                  <a:srgbClr val="475569"/>
                </a:solidFill>
              </a:rPr>
              <a:t>prices + own.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1737360"/>
            <a:ext cx="146304" cy="18288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481328"/>
            <a:ext cx="1417320" cy="676656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0216" y="1600200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80" b="1">
                <a:solidFill>
                  <a:srgbClr val="14315A"/>
                </a:solidFill>
              </a:rPr>
              <a:t>Labels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1837944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" b="0">
                <a:solidFill>
                  <a:srgbClr val="475569"/>
                </a:solidFill>
              </a:rPr>
              <a:t>73 clean demand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1737360"/>
            <a:ext cx="146304" cy="18288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92440" y="1481328"/>
            <a:ext cx="1417320" cy="676656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74736" y="1600200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80" b="1">
                <a:solidFill>
                  <a:srgbClr val="14315A"/>
                </a:solidFill>
              </a:rPr>
              <a:t>Monte Carlo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1837944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" b="0">
                <a:solidFill>
                  <a:srgbClr val="475569"/>
                </a:solidFill>
              </a:rPr>
              <a:t>demand → payoff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55480" y="1737360"/>
            <a:ext cx="146304" cy="18288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966959" y="1481328"/>
            <a:ext cx="1417320" cy="676656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49255" y="1600200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80" b="1">
                <a:solidFill>
                  <a:srgbClr val="14315A"/>
                </a:solidFill>
              </a:rPr>
              <a:t>Trade blotter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49255" y="1837944"/>
            <a:ext cx="12527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" b="0">
                <a:solidFill>
                  <a:srgbClr val="475569"/>
                </a:solidFill>
              </a:rPr>
              <a:t>entry + hedge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2514600"/>
            <a:ext cx="10927080" cy="384048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1" y="2633472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90" b="1">
                <a:solidFill>
                  <a:srgbClr val="FFFFFF"/>
                </a:solidFill>
              </a:rPr>
              <a:t>Stage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0752" y="2633472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90" b="1">
                <a:solidFill>
                  <a:srgbClr val="FFFFFF"/>
                </a:solidFill>
              </a:rPr>
              <a:t>Primary output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42632" y="2633472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90" b="1">
                <a:solidFill>
                  <a:srgbClr val="FFFFFF"/>
                </a:solidFill>
              </a:rPr>
              <a:t>Current state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2898648"/>
            <a:ext cx="109270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1" y="2999232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0–1  Universe + identifiers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30752" y="2999232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US_election_deals_for_analysis.csv (317)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42632" y="2999232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CIK + acquirer-PERMNO overrides for delisted/renamed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3264408"/>
            <a:ext cx="10927080" cy="3657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1" y="3364991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2  SEC + Claude extraction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30752" y="3364991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ma_edgar_full/llm_field_extractions.csv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2632" y="3364991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303 deals, 17 canonical fields each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3630168"/>
            <a:ext cx="109270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1" y="3730752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3  WRDS market + ownership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30752" y="3730752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wrds_market_daily.csv · ownership_mix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42632" y="3730752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Target + acquirer prices, passive block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" y="3995928"/>
            <a:ext cx="10927080" cy="3657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1" y="4096512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4  Normalize labels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30752" y="4096512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normalized_labels.csv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42632" y="4096512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73 clean election-DEMAND labels (near disclosure ceiling)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4361688"/>
            <a:ext cx="109270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1" y="4462272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5  Deadline spread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30752" y="4462272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deadline_spread.csv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42632" y="4462272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Fixed vs floating split (floating = spread≈0, excluded)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4727448"/>
            <a:ext cx="10927080" cy="3657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1" y="4828032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6  Monte Carlo  (arb_mc / arb_run)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30752" y="4828032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arb_output/ figures + summary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42632" y="4828032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Demand Beta; calibration KS p = 0.96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" y="5093208"/>
            <a:ext cx="109270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1" y="5193792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7  Trade decision  (arb_signal)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30752" y="5193792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arb_signals.csv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42632" y="5193792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31 deals, 22 ENTER, signal skill corr +0.67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" y="5458968"/>
            <a:ext cx="10927080" cy="36576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231" y="5559552"/>
            <a:ext cx="29077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8  Deliverable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30752" y="5559552"/>
            <a:ext cx="35021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arb_output/walkthrough.html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42632" y="5559552"/>
            <a:ext cx="41879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This deck + the browser walkthrough artifact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80" b="0">
                <a:solidFill>
                  <a:srgbClr val="475569"/>
                </a:solidFill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315A"/>
                </a:solidFill>
              </a:rPr>
              <a:t>Extraction walkthrough — one deal,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923544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</a:rPr>
              <a:t>PepsiAmericas ← PepsiCo (announced 2009-04-20, cash-or-stock election) — raw filings to a priced trade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</a:rPr>
              <a:t>JPM Project 3ii · Weekly workflow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17904"/>
            <a:ext cx="2514600" cy="731520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19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315A"/>
                </a:solidFill>
              </a:rPr>
              <a:t>1  Deal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19" b="0">
                <a:solidFill>
                  <a:srgbClr val="475569"/>
                </a:solidFill>
              </a:rPr>
              <a:t>Bloomberg row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517904"/>
            <a:ext cx="8257031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1673351"/>
            <a:ext cx="8001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9" b="0">
                <a:solidFill>
                  <a:srgbClr val="0F172A"/>
                </a:solidFill>
              </a:rPr>
              <a:t>PepsiAmericas Inc  ←  PepsiCo Inc  ·  announced 2009-04-20  ·  Cash-or-Stock election  ·  status: completed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36291"/>
            <a:ext cx="2514600" cy="731520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464308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315A"/>
                </a:solidFill>
              </a:rPr>
              <a:t>2  SEC 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720339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19" b="0">
                <a:solidFill>
                  <a:srgbClr val="475569"/>
                </a:solidFill>
              </a:rPr>
              <a:t>download_ma_edgar_files.py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10128" y="2336291"/>
            <a:ext cx="8257031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56432" y="2491739"/>
            <a:ext cx="8001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9" b="0">
                <a:solidFill>
                  <a:srgbClr val="0F172A"/>
                </a:solidFill>
              </a:rPr>
              <a:t>Resolved CIK → pulled 553 documents / 104 unique filings (8-K, 425, DEFA14A, SC 13E3/A) → top 10 scored &amp; sent to Claude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54679"/>
            <a:ext cx="2514600" cy="731520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28269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315A"/>
                </a:solidFill>
              </a:rPr>
              <a:t>3  Claude extraction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538727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19" b="0">
                <a:solidFill>
                  <a:srgbClr val="475569"/>
                </a:solidFill>
              </a:rPr>
              <a:t>17 canonical fields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3154679"/>
            <a:ext cx="8257031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3310127"/>
            <a:ext cx="8001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9" b="0">
                <a:solidFill>
                  <a:srgbClr val="0F172A"/>
                </a:solidFill>
              </a:rPr>
              <a:t>Cash $28.50/sh  ·  Stock 0.5022 PEP sh (fixed ratio)  ·  Cash cap 50% of shares  ·  deadline = 3rd business day pre-close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73068"/>
            <a:ext cx="2514600" cy="731520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4101083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315A"/>
                </a:solidFill>
              </a:rPr>
              <a:t>4  Realized label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357116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19" b="0">
                <a:solidFill>
                  <a:srgbClr val="475569"/>
                </a:solidFill>
              </a:rPr>
              <a:t>normalized_labels.csv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10128" y="3973068"/>
            <a:ext cx="8257031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56432" y="4128515"/>
            <a:ext cx="8001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9" b="0">
                <a:solidFill>
                  <a:srgbClr val="0F172A"/>
                </a:solidFill>
              </a:rPr>
              <a:t>Filing discloses DEMAND: ≈ 2,304,733 PAS shares elected cash → % elected cash (pre-proration) — the model's target variable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2514600" cy="731520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919472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315A"/>
                </a:solidFill>
              </a:rPr>
              <a:t>5  WRDS join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175504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19" b="0">
                <a:solidFill>
                  <a:srgbClr val="475569"/>
                </a:solidFill>
              </a:rPr>
              <a:t>wrds_market_daily.csv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10128" y="4791456"/>
            <a:ext cx="8257031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56432" y="4946904"/>
            <a:ext cx="8001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9" b="0">
                <a:solidFill>
                  <a:srgbClr val="0F172A"/>
                </a:solidFill>
              </a:rPr>
              <a:t>Target + acquirer (PepsiCo) daily prices joined — 85 trading days each; supplies the entry price and the hedge leg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609844"/>
            <a:ext cx="2514600" cy="731520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737859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14315A"/>
                </a:solidFill>
              </a:rPr>
              <a:t>6  Trade decision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993892"/>
            <a:ext cx="2331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19" b="0">
                <a:solidFill>
                  <a:srgbClr val="475569"/>
                </a:solidFill>
              </a:rPr>
              <a:t>arb_signal.py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10128" y="5609844"/>
            <a:ext cx="8257031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456432" y="5765292"/>
            <a:ext cx="8001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9" b="0">
                <a:solidFill>
                  <a:srgbClr val="0F172A"/>
                </a:solidFill>
              </a:rPr>
              <a:t>Fair value $27.99 vs market $24.66 = +13.5% → risk-adjusted +9.1% → ENTER, elect CASH, hedge 0.066  ·  realized +15.6%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80" b="0">
                <a:solidFill>
                  <a:srgbClr val="475569"/>
                </a:solidFill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4315A"/>
          </a:solidFill>
          <a:ln w="12700">
            <a:solidFill>
              <a:srgbClr val="1431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4315A"/>
                </a:solidFill>
              </a:rPr>
              <a:t>Mentor discussion and next implementation steps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dirty="0">
                <a:solidFill>
                  <a:srgbClr val="475569"/>
                </a:solidFill>
              </a:rPr>
              <a:t>JPM Project 3ii · Weekly workflow validation</a:t>
            </a:r>
            <a:endParaRPr lang="en-US" sz="780" dirty="0"/>
          </a:p>
        </p:txBody>
      </p:sp>
      <p:sp>
        <p:nvSpPr>
          <p:cNvPr id="7" name="Text 5"/>
          <p:cNvSpPr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80" dirty="0">
                <a:solidFill>
                  <a:srgbClr val="475569"/>
                </a:solidFill>
              </a:rPr>
              <a:t>15 / 15</a:t>
            </a:r>
            <a:endParaRPr lang="en-US" sz="780" dirty="0"/>
          </a:p>
        </p:txBody>
      </p:sp>
      <p:sp>
        <p:nvSpPr>
          <p:cNvPr id="9" name="Text 7"/>
          <p:cNvSpPr/>
          <p:nvPr/>
        </p:nvSpPr>
        <p:spPr>
          <a:xfrm>
            <a:off x="896112" y="1389888"/>
            <a:ext cx="2803550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Next step</a:t>
            </a:r>
            <a:endParaRPr lang="en-US" sz="890" dirty="0"/>
          </a:p>
        </p:txBody>
      </p:sp>
      <p:sp>
        <p:nvSpPr>
          <p:cNvPr id="10" name="Text 8"/>
          <p:cNvSpPr/>
          <p:nvPr/>
        </p:nvSpPr>
        <p:spPr>
          <a:xfrm>
            <a:off x="3827678" y="1389888"/>
            <a:ext cx="7410298" cy="146304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90" b="1" dirty="0">
                <a:solidFill>
                  <a:srgbClr val="FFFFFF"/>
                </a:solidFill>
              </a:rPr>
              <a:t>Implementation detail</a:t>
            </a:r>
            <a:endParaRPr lang="en-US" sz="890" dirty="0"/>
          </a:p>
        </p:txBody>
      </p:sp>
      <p:sp>
        <p:nvSpPr>
          <p:cNvPr id="11" name="TextBox 10"/>
          <p:cNvSpPr txBox="1"/>
          <p:nvPr/>
        </p:nvSpPr>
        <p:spPr>
          <a:xfrm>
            <a:off x="914400" y="182880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4546A"/>
                </a:solidFill>
                <a:latin typeface="Aptos"/>
              </a:rPr>
              <a:t>Complete full-universe extraction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182880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22222"/>
                </a:solidFill>
                <a:latin typeface="Aptos"/>
              </a:rPr>
              <a:t>Batch Claude run over the ~283 deals under a fixed cost cap; measure the realized-label capture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9748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4546A"/>
                </a:solidFill>
                <a:latin typeface="Aptos"/>
              </a:rPr>
              <a:t>Build the modeling panel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69748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22222"/>
                </a:solidFill>
                <a:latin typeface="Aptos"/>
              </a:rPr>
              <a:t>Join WRDS market + ETF/passive ownership onto each event; assemble one row per deal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616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4546A"/>
                </a:solidFill>
                <a:latin typeface="Aptos"/>
              </a:rPr>
              <a:t>Fit p_active(spread)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56616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22222"/>
                </a:solidFill>
                <a:latin typeface="Aptos"/>
              </a:rPr>
              <a:t>Calibrate active-investor cash-election propensity from the realized-demand labels vs. the deadline spread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43484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4546A"/>
                </a:solidFill>
                <a:latin typeface="Aptos"/>
              </a:rPr>
              <a:t>Choose deliverable framing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348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222222"/>
                </a:solidFill>
                <a:latin typeface="Aptos"/>
              </a:rPr>
              <a:t>Large-N regression if capture is high; structural framework + case studies if issuer disclosure limits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03520"/>
            <a:ext cx="2743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44546A"/>
                </a:solidFill>
                <a:latin typeface="Aptos"/>
              </a:rPr>
              <a:t>Mentor discussion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5303520"/>
            <a:ext cx="73152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dirty="0">
                <a:solidFill>
                  <a:srgbClr val="222222"/>
                </a:solidFill>
                <a:latin typeface="Aptos"/>
              </a:rPr>
              <a:t>Is ~80% label capture (disclosure-bounded) sufficient, or should we prioritize the structural-model route?</a:t>
            </a:r>
            <a:r>
              <a:rPr lang="en-US" sz="1000" dirty="0">
                <a:solidFill>
                  <a:srgbClr val="222222"/>
                </a:solidFill>
                <a:latin typeface="Aptos"/>
              </a:rPr>
              <a:t> </a:t>
            </a:r>
            <a:r>
              <a:rPr lang="en-US" sz="1000" dirty="0">
                <a:solidFill>
                  <a:srgbClr val="222222"/>
                </a:solidFill>
                <a:highlight>
                  <a:srgbClr val="FFFF00"/>
                </a:highlight>
                <a:latin typeface="Aptos"/>
              </a:rPr>
              <a:t>We are considering exploring Canda transactions, but their API may potentially be more difficult to work with.</a:t>
            </a:r>
            <a:endParaRPr sz="1000" dirty="0">
              <a:solidFill>
                <a:srgbClr val="222222"/>
              </a:solidFill>
              <a:highlight>
                <a:srgbClr val="FFFF00"/>
              </a:highlight>
              <a:latin typeface="Apto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64592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315A"/>
                </a:solidFill>
              </a:rPr>
              <a:t>From 2,068 raw deals to 73 usable labels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" y="923544"/>
            <a:ext cx="1088136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</a:rPr>
              <a:t>Most of the funnel is structural — deals that were never eligible, not pipeline losses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6858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80" b="0">
                <a:solidFill>
                  <a:srgbClr val="475569"/>
                </a:solidFill>
              </a:rPr>
              <a:t>JPM Project 3ii · Weekly workflow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47088"/>
            <a:ext cx="10927080" cy="384048"/>
          </a:xfrm>
          <a:prstGeom prst="rect">
            <a:avLst/>
          </a:prstGeom>
          <a:solidFill>
            <a:srgbClr val="143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965960"/>
            <a:ext cx="38221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90" b="1">
                <a:solidFill>
                  <a:srgbClr val="FFFFFF"/>
                </a:solidFill>
              </a:rPr>
              <a:t>Filter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1965960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90" b="1">
                <a:solidFill>
                  <a:srgbClr val="FFFFFF"/>
                </a:solidFill>
              </a:rPr>
              <a:t>Remaining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33872" y="1965960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90" b="1">
                <a:solidFill>
                  <a:srgbClr val="FFFFFF"/>
                </a:solidFill>
              </a:rPr>
              <a:t>Dropped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22592" y="1965960"/>
            <a:ext cx="4507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90" b="1">
                <a:solidFill>
                  <a:srgbClr val="FFFFFF"/>
                </a:solidFill>
              </a:rPr>
              <a:t>Why it drops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231136"/>
            <a:ext cx="109270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1" y="2331720"/>
            <a:ext cx="38221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Raw Bloomberg pull (2006+)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331720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2,068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33872" y="2331720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592" y="2331720"/>
            <a:ext cx="4507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Everything the M&amp;A screen returned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633472"/>
            <a:ext cx="10927080" cy="402336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1" y="2734056"/>
            <a:ext cx="38221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Keep “Cash or Stock” (true election)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2" y="2734056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727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33872" y="2734056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−1,341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22592" y="2734056"/>
            <a:ext cx="4507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Fixed-mix deals — no election, no proration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035808"/>
            <a:ext cx="109270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1" y="3136391"/>
            <a:ext cx="38221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Keep completed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3136391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619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33872" y="3136391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−108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22592" y="3136391"/>
            <a:ext cx="4507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Terminated / withdrawn — no election happened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3438144"/>
            <a:ext cx="10927080" cy="402336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1" y="3538727"/>
            <a:ext cx="38221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US + resolvable identifier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5152" y="3538727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33872" y="3538727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−302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2592" y="3538727"/>
            <a:ext cx="4507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Non-US — no EDGAR filings to read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3840480"/>
            <a:ext cx="1092708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1" y="3941064"/>
            <a:ext cx="38221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Ran through EDGAR + Claude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5152" y="3941064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303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33872" y="3941064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−14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22592" y="3941064"/>
            <a:ext cx="4507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No CIK / no election filing found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242816"/>
            <a:ext cx="10927080" cy="402336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1" y="4343400"/>
            <a:ext cx="382219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Clean disclosed election demand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45152" y="4343400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73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33872" y="4343400"/>
            <a:ext cx="1078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−231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22592" y="4343400"/>
            <a:ext cx="45079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80" b="0">
                <a:solidFill>
                  <a:srgbClr val="0F172A"/>
                </a:solidFill>
              </a:rPr>
              <a:t>Not disclosed, or unparseable prose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285232"/>
            <a:ext cx="10927080" cy="841248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5394960"/>
            <a:ext cx="106070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4315A"/>
                </a:solidFill>
              </a:rPr>
              <a:t>Where the deals go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" y="5614416"/>
            <a:ext cx="1063447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60" b="0">
                <a:solidFill>
                  <a:srgbClr val="0F172A"/>
                </a:solidFill>
              </a:rPr>
              <a:t>The two largest cuts are structural, not pipeline losses — 1,341 “Cash-and-Stock” deals have no election at all, and 302 non-US deals have no EDGAR filings (together ~79% of the drop, right at the top). The remaining 73 are near the disclosure ceiling: election demand simply isn’t disclosed on most other deals — a sharp-prompt re-extraction of 26 candidates recovered only 1.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64240" y="6473952"/>
            <a:ext cx="731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80" b="0">
                <a:solidFill>
                  <a:srgbClr val="475569"/>
                </a:solidFill>
              </a:rPr>
              <a:t>12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1713</Words>
  <Application>Microsoft Macintosh PowerPoint</Application>
  <PresentationFormat>Widescreen</PresentationFormat>
  <Paragraphs>270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UC Berkeley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JPM Project 3ii Mentor Update</dc:title>
  <dc:subject>JPM Project 3ii weekly update</dc:subject>
  <dc:creator>Xiangyu Wang</dc:creator>
  <cp:lastModifiedBy>Alvin Yu</cp:lastModifiedBy>
  <cp:revision>8</cp:revision>
  <dcterms:created xsi:type="dcterms:W3CDTF">2026-06-26T18:48:15Z</dcterms:created>
  <dcterms:modified xsi:type="dcterms:W3CDTF">2026-07-10T11:27:39Z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960AB006C5CC313B58C93E6AFE06DBCA_42</vt:lpwstr>
  </property>
  <property fmtid="{D5CDD505-2E9C-101B-9397-08002B2CF9AE}" pid="3" name="KSOProductBuildVer">
    <vt:lpwstr>2052-7.3.1.8967</vt:lpwstr>
  </property>
</Properties>
</file>