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3" r:id="rId4"/>
    <p:sldId id="271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07" d="100"/>
          <a:sy n="107" d="100"/>
        </p:scale>
        <p:origin x="-28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44EC-5CC3-D9EA-751B-64BDE662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18764-D420-0F73-7A11-6A6BF2702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EF050-67A4-880E-E3DF-1D969C241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38784-12ED-E7A8-D3BB-D6133EFEF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7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JPM Project 3ii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2926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D7E5FF"/>
                </a:solidFill>
              </a:rPr>
              <a:t>Mentor Weekly Update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15A"/>
                </a:solidFill>
              </a:rPr>
              <a:t>Codebase Workflow Validation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76656" y="2706624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</a:rPr>
              <a:t>Corporate-action election arbitrage - Alvin &amp; Xiangyu</a:t>
            </a:r>
          </a:p>
        </p:txBody>
      </p:sp>
      <p:sp>
        <p:nvSpPr>
          <p:cNvPr id="8" name="Shape 6"/>
          <p:cNvSpPr/>
          <p:nvPr/>
        </p:nvSpPr>
        <p:spPr>
          <a:xfrm>
            <a:off x="676656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This week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Scale the validated SEC → Claude → WRDS → model pipeline to the full US election universe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53128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Test case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36008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Andeavor / Marathon Petroleum, announced Apr. 30, 2018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3886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4059936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Control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0" y="4379976"/>
            <a:ext cx="303580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Celgene / BMY confirms the classifier blocks fixed-consideration deals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" y="59161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July 17,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C698-D78D-5BE5-2F54-DE8963F3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DCAABBF-4457-3F23-C290-0D04E56C65EA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9E5DE7-FB3D-25E5-4EED-850CDC2D2C51}"/>
              </a:ext>
            </a:extLst>
          </p:cNvPr>
          <p:cNvSpPr/>
          <p:nvPr/>
        </p:nvSpPr>
        <p:spPr>
          <a:xfrm>
            <a:off x="685800" y="960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2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Update</a:t>
            </a:r>
            <a:endParaRPr lang="en-US" sz="2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C1B190F-C32F-35EF-F900-6ABDBA393A82}"/>
              </a:ext>
            </a:extLst>
          </p:cNvPr>
          <p:cNvSpPr/>
          <p:nvPr/>
        </p:nvSpPr>
        <p:spPr>
          <a:xfrm>
            <a:off x="685800" y="2865120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200" b="1" dirty="0">
                <a:solidFill>
                  <a:srgbClr val="182B49"/>
                </a:solidFill>
              </a:rPr>
              <a:t>Accomplished this week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Completed the full-universe SEC → Claude extraction: 317 deals, 303 with fields, 73 clean election-demand labels</a:t>
            </a:r>
            <a:endParaRPr lang="en-US" sz="1200" b="0" dirty="0">
              <a:solidFill>
                <a:srgbClr val="0F172A"/>
              </a:solidFill>
            </a:endParaRP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F172A"/>
                </a:solidFill>
                <a:highlight>
                  <a:srgbClr val="FFFF00"/>
                </a:highlight>
              </a:rPr>
              <a:t>Noting that </a:t>
            </a:r>
            <a:r>
              <a:rPr lang="en-US" sz="1200" dirty="0">
                <a:solidFill>
                  <a:srgbClr val="0F172A"/>
                </a:solidFill>
                <a:highlight>
                  <a:srgbClr val="FFFF00"/>
                </a:highlight>
              </a:rPr>
              <a:t>most positions that survived extraction do not have a significant allocation within indexes</a:t>
            </a:r>
            <a:endParaRPr sz="1200" b="0" dirty="0">
              <a:solidFill>
                <a:srgbClr val="0F172A"/>
              </a:solidFill>
              <a:highlight>
                <a:srgbClr val="FFFF00"/>
              </a:highlight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Built the Monte Carlo framework — demand distribution (Beta) → proration mechanics → simulated payoff and portfolio P&amp;L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Validated the demand model out-of-sample: leave-one-out calibration passes (KS p = 0.96), model is honest, not over-confident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Built the trade decision layer (blotter): entry, election side, hedge, sizing and a go/no-go rule — signal skill </a:t>
            </a:r>
            <a:r>
              <a:rPr sz="1200" b="0" dirty="0" err="1">
                <a:solidFill>
                  <a:srgbClr val="0F172A"/>
                </a:solidFill>
              </a:rPr>
              <a:t>corr</a:t>
            </a:r>
            <a:r>
              <a:rPr sz="1200" b="0" dirty="0">
                <a:solidFill>
                  <a:srgbClr val="0F172A"/>
                </a:solidFill>
              </a:rPr>
              <a:t> +0.67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dirty="0">
                <a:solidFill>
                  <a:srgbClr val="182B49"/>
                </a:solidFill>
              </a:rPr>
              <a:t>In progress / to do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Survivorship-aware P&amp;L </a:t>
            </a:r>
            <a:r>
              <a:rPr sz="1200" b="0" dirty="0" err="1">
                <a:solidFill>
                  <a:srgbClr val="0F172A"/>
                </a:solidFill>
              </a:rPr>
              <a:t>backtest</a:t>
            </a:r>
            <a:r>
              <a:rPr sz="1200" b="0" dirty="0">
                <a:solidFill>
                  <a:srgbClr val="0F172A"/>
                </a:solidFill>
              </a:rPr>
              <a:t>: add the terminated deals and extend prices to close so deal-break risk is priced</a:t>
            </a:r>
            <a:r>
              <a:rPr lang="en-US" sz="1200" dirty="0">
                <a:solidFill>
                  <a:srgbClr val="0F172A"/>
                </a:solidFill>
              </a:rPr>
              <a:t> accurately</a:t>
            </a:r>
            <a:endParaRPr sz="1200" b="0" dirty="0">
              <a:solidFill>
                <a:srgbClr val="0F172A"/>
              </a:solidFill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Calibrate the deal-break probability and entry hurdle from data (currently placeholders: 12% break, 0.5% hurdle)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0F172A"/>
                </a:solidFill>
              </a:rPr>
              <a:t>•  Censored-demand refinement ($0): fold proration-outcome deals into the Beta fit as bounded demand observations</a:t>
            </a:r>
            <a:endParaRPr lang="en-US" sz="1200" dirty="0">
              <a:solidFill>
                <a:srgbClr val="0F172A"/>
              </a:solidFill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Finalize/clean repo</a:t>
            </a:r>
            <a:endParaRPr lang="en-US" sz="1200" b="0" dirty="0">
              <a:solidFill>
                <a:srgbClr val="0F172A"/>
              </a:solidFill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sz="1200" b="0" dirty="0">
              <a:solidFill>
                <a:srgbClr val="0F172A"/>
              </a:solidFill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E6C79C3-950B-DE6B-729C-F12097A5F167}"/>
              </a:ext>
            </a:extLst>
          </p:cNvPr>
          <p:cNvSpPr/>
          <p:nvPr/>
        </p:nvSpPr>
        <p:spPr>
          <a:xfrm>
            <a:off x="685800" y="6126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JPM Project 3ii</a:t>
            </a:r>
            <a:endParaRPr lang="en-US" sz="9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13BC52B5-1BFE-F7A8-7C57-07D5AB46CA12}"/>
              </a:ext>
            </a:extLst>
          </p:cNvPr>
          <p:cNvSpPr/>
          <p:nvPr/>
        </p:nvSpPr>
        <p:spPr>
          <a:xfrm>
            <a:off x="792327" y="4060907"/>
            <a:ext cx="10607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9428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" y="914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315A"/>
                </a:solidFill>
              </a:rPr>
              <a:t>From 2,068 raw deals to 73 usable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23544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</a:rPr>
              <a:t>Most of the funnel is structural — deals that were never eligible, not pipeline losses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475569"/>
                </a:solidFill>
              </a:rPr>
              <a:t>JPM Project 3ii · Weekly workflow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27080" cy="38404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96596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96596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Remaining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96596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Dropped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965960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Why it drops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31136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233172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Raw Bloomberg pull (2006+)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3172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2,068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33172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331720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Everything the M&amp;A screen returned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33472"/>
            <a:ext cx="1092708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1" y="2734056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Keep “Cash or Stock” (true election)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73405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727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273405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−1,341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2734056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Fixed-mix deals — no election, no proration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35808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3136391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Keep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136391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619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3136391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−108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136391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Terminated / withdrawn — no election happened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38144"/>
            <a:ext cx="1092708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1" y="3538727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US + resolvable identifier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538727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317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3538727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−302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538727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Non-US — no EDGAR filings to read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40480"/>
            <a:ext cx="10927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3941064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Ran through EDGAR + Claude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3941064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303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3941064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−14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941064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No CIK / no election filing found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242816"/>
            <a:ext cx="1092708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1" y="434340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Clean disclosed election demand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434340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434340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 dirty="0">
                <a:solidFill>
                  <a:srgbClr val="0F172A"/>
                </a:solidFill>
              </a:rPr>
              <a:t>−231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343400"/>
            <a:ext cx="4507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Not disclosed, or unparseable prose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85232"/>
            <a:ext cx="10927080" cy="841248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6384" y="539496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4315A"/>
                </a:solidFill>
              </a:rPr>
              <a:t>Where the deals 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5614416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0F172A"/>
                </a:solidFill>
              </a:rPr>
              <a:t>The two largest cuts are structural, not pipeline losses — 1,341 “Cash-and-Stock” deals have no election at all, and 302 non-US deals have no EDGAR filings (together ~79% of the drop, right at the top). The remaining 73 are near the disclosure ceiling: election demand simply isn’t disclosed on most other deals — a sharp-prompt re-extraction of 26 candidates recovered only 1.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475569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87749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315A"/>
                </a:solidFill>
              </a:rPr>
              <a:t>Updated pipeline — extraction to Monte Carlo to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23544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</a:rPr>
              <a:t>Full current flow: 2,068 raw deals → 73 clean labels → a calibrated model → a trade blotter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475569"/>
                </a:solidFill>
              </a:rPr>
              <a:t>JPM Project 3ii · Weekly workflow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2,068 → 317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737360"/>
            <a:ext cx="146304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79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1175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SEC +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5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field 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737360"/>
            <a:ext cx="146304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6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WRDS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prices + 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737360"/>
            <a:ext cx="146304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0216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73 clean demand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737360"/>
            <a:ext cx="146304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Monte Carlo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demand → payoff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1737360"/>
            <a:ext cx="146304" cy="18288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66959" y="1481328"/>
            <a:ext cx="1417320" cy="676656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9255" y="1600200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4315A"/>
                </a:solidFill>
              </a:rPr>
              <a:t>Trade blotter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5" y="1837944"/>
            <a:ext cx="12527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475569"/>
                </a:solidFill>
              </a:rPr>
              <a:t>entry + hedge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514600"/>
            <a:ext cx="10927080" cy="384048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1" y="263347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263347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Primary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2" y="263347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898648"/>
            <a:ext cx="10927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1" y="299923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0–1  Universe + identifiers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299923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US_election_deals_for_analysis.csv (317)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299923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CIK + acquirer-PERMNO overrides for delisted/renamed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264408"/>
            <a:ext cx="109270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1" y="3364991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2  SEC + Claude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3364991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ma_edgar_full/llm_field_extractions.csv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2632" y="3364991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303 deals, 17 canonical fields 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630168"/>
            <a:ext cx="10927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1" y="373075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3  WRDS market + ownership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0752" y="373075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wrds_market_daily.csv · ownership_mix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42632" y="373075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Target + acquirer prices, passive block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995928"/>
            <a:ext cx="109270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1" y="409651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4  Normalize labels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0752" y="409651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normalized_labels.csv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2" y="409651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73 clean election-DEMAND labels (near disclosure ceiling)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361688"/>
            <a:ext cx="10927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3231" y="446227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5  Deadline spread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0752" y="446227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deadline_spread.csv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2632" y="446227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Fixed vs floating split (floating = spread≈0, excluded)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727448"/>
            <a:ext cx="109270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1" y="482803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6  Monte Carlo  (arb_mc / arb_run)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0752" y="482803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arb_output/ figures +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2632" y="482803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Demand Beta; calibration KS p = 0.96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093208"/>
            <a:ext cx="109270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1" y="519379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7  Trade decision  (arb_signal)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30752" y="519379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arb_signals.csv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42632" y="519379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31 deals, 22 ENTER, signal skill corr +0.67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458968"/>
            <a:ext cx="10927080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3231" y="5559552"/>
            <a:ext cx="290779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8  Deliverable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30752" y="5559552"/>
            <a:ext cx="35021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arb_output/walkthrough.html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42632" y="5559552"/>
            <a:ext cx="41879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</a:rPr>
              <a:t>This deck + the browser walkthrough artifact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475569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351325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3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315A"/>
                </a:solidFill>
              </a:rPr>
              <a:t>Extraction walkthrough — one deal,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923544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</a:rPr>
              <a:t>PepsiAmericas ← PepsiCo (announced 2009-04-20, cash-or-stock election) — raw filings to a priced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475569"/>
                </a:solidFill>
              </a:rPr>
              <a:t>JPM Project 3ii · Weekly workflow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17904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19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4315A"/>
                </a:solidFill>
              </a:rPr>
              <a:t>1  Deal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Bloomberg 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517904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1673351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PepsiAmericas Inc  ←  PepsiCo Inc  ·  announced 2009-04-20  ·  Cash-or-Stock election  ·  status: 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6291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46430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4315A"/>
                </a:solidFill>
              </a:rPr>
              <a:t>2  SEC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20339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download_ma_edgar_files.py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336291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2491739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Resolved CIK → pulled 553 documents / 104 unique filings (8-K, 425, DEFA14A, SC 13E3/A) → top 10 scored &amp; sent to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79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282696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4315A"/>
                </a:solidFill>
              </a:rPr>
              <a:t>3  Claude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7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17 canonical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3154679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3310127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Cash $28.50/</a:t>
            </a:r>
            <a:r>
              <a:rPr sz="1019" b="0" dirty="0" err="1">
                <a:solidFill>
                  <a:srgbClr val="0F172A"/>
                </a:solidFill>
              </a:rPr>
              <a:t>sh</a:t>
            </a:r>
            <a:r>
              <a:rPr sz="1019" b="0" dirty="0">
                <a:solidFill>
                  <a:srgbClr val="0F172A"/>
                </a:solidFill>
              </a:rPr>
              <a:t>  ·  Stock 0.5022 PEP </a:t>
            </a:r>
            <a:r>
              <a:rPr sz="1019" b="0" dirty="0" err="1">
                <a:solidFill>
                  <a:srgbClr val="0F172A"/>
                </a:solidFill>
              </a:rPr>
              <a:t>sh</a:t>
            </a:r>
            <a:r>
              <a:rPr sz="1019" b="0" dirty="0">
                <a:solidFill>
                  <a:srgbClr val="0F172A"/>
                </a:solidFill>
              </a:rPr>
              <a:t> (fixed ratio)  ·  Cash cap 50% of shares  ·  deadline = 3rd business day pre-close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73068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0108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4315A"/>
                </a:solidFill>
              </a:rPr>
              <a:t>4  Realized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57116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normalized_labels.csv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3973068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56432" y="4128515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Filing discloses DEMAND: ≈ 2,304,733 PAS shares elected cash → % elected cash (pre-proration) — the model's target variable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91456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91947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4315A"/>
                </a:solidFill>
              </a:rPr>
              <a:t>5  WRDS join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7550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wrds_market_daily.csv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4791456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56432" y="4946904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Target + acquirer (PepsiCo) daily prices joined — 85 trading days each; supplies the entry price and the hedge leg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609844"/>
            <a:ext cx="2514600" cy="73152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737859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14315A"/>
                </a:solidFill>
              </a:rPr>
              <a:t>6  Trade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9389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</a:rPr>
              <a:t>arb_signal.py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5609844"/>
            <a:ext cx="825703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56432" y="5765292"/>
            <a:ext cx="8001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0F172A"/>
                </a:solidFill>
              </a:rPr>
              <a:t>Fair value $27.99 vs market $24.66 = +13.5% → risk-adjusted +9.1% → ENTER, elect CASH, hedge 0.066  ·  realized +15.6%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80" b="0">
                <a:solidFill>
                  <a:srgbClr val="475569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285446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What changed this week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update is about implementation proof, not only strategy intuition.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2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18288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Pipeline scope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M&amp;A export → SEC evidence → Claude fields → WRDS joins → model-ready 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61488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0704" y="2944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54680" y="2944368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Mechanics proven on Andeavor/MPC (Steps 1–8); this week scaled to the ~283-deal universe with the realized-election label now captured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877056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0704" y="4059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</a:rPr>
              <a:t>Deliverable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54680" y="4059936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Auditable intermediate CSV/JSONL files plus v1 prediction and hedge row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Codebase workflow: one event row from four data paths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deck is organized around code modules, inputs, outputs, and validation checks.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3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20240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21608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22976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24344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25712" y="202996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M&amp;A CSV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6656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candidate deals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395728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78024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SEC locator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478024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download_ma_edgar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197096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9392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Claude extraction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279392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canonical fields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998464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market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80760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CRSP prices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99832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2128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ownership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882128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ETF/passive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601200" y="182880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83496" y="194767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Model builder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683496" y="218541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EV + hedge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3383280"/>
            <a:ext cx="104241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7552" y="3493008"/>
            <a:ext cx="237378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Stage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3489350" y="3493008"/>
            <a:ext cx="393740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Primary output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7554773" y="3493008"/>
            <a:ext cx="3728923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Validation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914400" y="3767328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7552" y="3867912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SEC retrieval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489350" y="3867912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manifest_sec_filings.csv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554773" y="3867912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Relevant forms and exhibits found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14400" y="4151376"/>
            <a:ext cx="104241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7552" y="4251960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Field locator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489350" y="4251960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field_locator.csv / coverage.csv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554773" y="4251960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Required field evidence ranked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4535424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7552" y="4636008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Claude extraction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489350" y="4636008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llm_field_extractions.csv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554773" y="4636008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Every canonical field returned or marked not_found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14400" y="4919472"/>
            <a:ext cx="104241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87552" y="5020056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WRDS joins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3489350" y="5020056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event_market_features.csv / ownership_mix_by_event.csv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554773" y="5020056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Prices, liquidity, and passive block populated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914400" y="5303520"/>
            <a:ext cx="10424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7552" y="5404104"/>
            <a:ext cx="237378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 builder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3489350" y="5404104"/>
            <a:ext cx="393740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election_model_predictions.csv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7554773" y="5404104"/>
            <a:ext cx="372892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Fixed deals blocked; election deals produce strategy row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1 — SEC retrieval 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Module: download_ma_edgar_files.py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4 / 15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Inputs and filters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60120" y="18928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Bloomberg M&amp;A export with target, acquirer, announcement date, payment type, status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Restrict to completed Cash-or-Stock / Cash-and-Stock candidates for this run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31520" y="267919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Use announcement-centered window: pre-days for setup filings and post-days for labels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Retrieval mechanics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89280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583680" y="18928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Resolve company names to SEC CIK and preserve diagnostics for ambiguous matches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Pull SEC submissions index and download primary filings plus exhibits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355080" y="267919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583680" y="26791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Target forms: S-4/A, 424B3, 8-K, 10-Q/10-K, EX-2.1, EX-99.1 and election materials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1033272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552" y="4681728"/>
            <a:ext cx="2351837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Case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3467405" y="4681728"/>
            <a:ext cx="3901745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Files found</a:t>
            </a:r>
            <a:endParaRPr lang="en-US" sz="890" dirty="0"/>
          </a:p>
        </p:txBody>
      </p:sp>
      <p:sp>
        <p:nvSpPr>
          <p:cNvPr id="25" name="Text 23"/>
          <p:cNvSpPr/>
          <p:nvPr/>
        </p:nvSpPr>
        <p:spPr>
          <a:xfrm>
            <a:off x="7497166" y="4681728"/>
            <a:ext cx="369509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Use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914400" y="4956048"/>
            <a:ext cx="10332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" y="5056632"/>
            <a:ext cx="235183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Andeavor/MPC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467405" y="5056632"/>
            <a:ext cx="390174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S-4/A, 424B3, 8-K, 10-Q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97166" y="5056632"/>
            <a:ext cx="369509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Terms, default rule, final allocation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14400" y="5340096"/>
            <a:ext cx="103327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7552" y="5440680"/>
            <a:ext cx="235183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Celgene/BMY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3467405" y="5440680"/>
            <a:ext cx="390174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Mixed-consideration files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497166" y="5440680"/>
            <a:ext cx="369509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Negative control for non-election classification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2 — Field locator turns files into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Modules: field_specs.json + download_ma_edgar_files.py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5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06527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527048"/>
            <a:ext cx="264170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Component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620110" y="1527048"/>
            <a:ext cx="775502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Implementation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7240" y="1801368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1901952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Canonical field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20110" y="1901952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Required flag, timing bucket, preferred forms, keywords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7240" y="2185416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286000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Scoring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20110" y="2286000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Keyword hits + form priority + top-k evidence snippets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7240" y="2569464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670048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Audit gate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620110" y="2670048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missing_required=True identifies deals not ready for extraction/modeling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7240" y="2953512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3054096"/>
            <a:ext cx="264170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Claude package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620110" y="3054096"/>
            <a:ext cx="77550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evidence_index.json, claude_prompt.txt, selected filings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325880" y="4160520"/>
            <a:ext cx="955548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91640" y="4462272"/>
            <a:ext cx="8823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15A"/>
                </a:solidFill>
              </a:rPr>
              <a:t>Design choice: evidence is ranked before Claude sees it, so the LLM is used for structured extraction rather than open-ended document search.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3 — Claude extraction has a strict output contract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code expects field-level JSON, not prose summaries.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6 / 15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Return schema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fields object includes every requested canonical field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Each field returns value, basis, evidence, source form, filing date, confidence, notes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2496312"/>
            <a:ext cx="137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</a:rPr>
              <a:t>•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0F172A"/>
                </a:solidFill>
              </a:rPr>
              <a:t>Unsupported fields return value=null and basis=not_found rather than being omitted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498348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28232" y="1618488"/>
            <a:ext cx="171587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Field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8272120" y="1618488"/>
            <a:ext cx="301157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Andeavor/MPC value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6355080" y="1892808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993392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cash_consideration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72120" y="1993392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$152.27 per ANDV share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355080" y="2276856"/>
            <a:ext cx="498348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2377440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exchange_ratio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272120" y="2377440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1.87 MPC shares per ANDV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355080" y="2660904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8232" y="2761488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cash_cap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272120" y="2761488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22,885,359 shares / ~15%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355080" y="3044952"/>
            <a:ext cx="498348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232" y="3145536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stock_cap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2120" y="3145536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Remainder / ~85%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355080" y="3429000"/>
            <a:ext cx="4983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3529584"/>
            <a:ext cx="1715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default_rule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72120" y="3529584"/>
            <a:ext cx="30115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No/late/invalid/revoked election → stock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4 — WRDS joins populate market and passive-ownership inputs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Modules: download_wrds_market_data.py and download_ownership_etf_data.py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7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53949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591056"/>
            <a:ext cx="2461565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Market field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394253" y="1591056"/>
            <a:ext cx="2677363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Value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31520" y="1865376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1965960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ANDV target price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394253" y="1965960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$138.32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350008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MPC acquirer price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394253" y="2350008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$74.91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1520" y="2633472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2734056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Stock-election value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94253" y="2734056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$140.08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3118104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Cash-election value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394253" y="3118104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$152.27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31520" y="3401568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3502152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Target ADV20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394253" y="3502152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2.53 million shares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3785616"/>
            <a:ext cx="53949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3886200"/>
            <a:ext cx="2461565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Target market cap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394253" y="3886200"/>
            <a:ext cx="2677363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$20.9 billion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00800" y="1481328"/>
            <a:ext cx="507492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1591056"/>
            <a:ext cx="251094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Ownership field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9112910" y="1591056"/>
            <a:ext cx="230794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Value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6400800" y="1865376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1965960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Historical ticker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9112910" y="1965960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ANDV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400800" y="2249424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2350008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CRSP PERMNO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112910" y="2350008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37284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00800" y="2633472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73952" y="2734056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Matched CUSIP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112910" y="2734056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03349M10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400800" y="3017520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73952" y="3118104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ETF/index-fund exposure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112910" y="3118104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26.75 million shares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400800" y="3401568"/>
            <a:ext cx="5074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73952" y="3502152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Holder count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9112910" y="3502152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232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400800" y="3785616"/>
            <a:ext cx="507492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73952" y="3886200"/>
            <a:ext cx="25109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Passive ownership estimate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9112910" y="3886200"/>
            <a:ext cx="230794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17.7%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5 — Model builder merges, audits, then blocks or predicts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Module: build_election_strategy_model.py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8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20240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21608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22976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24344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25712" y="1618488"/>
            <a:ext cx="182880" cy="2743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SEC/Claude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6656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legal terms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395728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78024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market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478024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price/liquidity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197096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79392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WRDS ownership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279392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passive block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998464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coverage audit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80760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field status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99832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2128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deal classifier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882128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block/predict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601200" y="1417320"/>
            <a:ext cx="1298448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83496" y="1536192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4315A"/>
                </a:solidFill>
              </a:rPr>
              <a:t>strategy row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683496" y="1773936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75569"/>
                </a:solidFill>
              </a:rPr>
              <a:t>EV + hedge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2880360"/>
            <a:ext cx="1037844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7552" y="2990088"/>
            <a:ext cx="340065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Validation check</a:t>
            </a: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4516222" y="2990088"/>
            <a:ext cx="672175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Result in this run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914400" y="3264408"/>
            <a:ext cx="10378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7552" y="3364992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Fixed-consideration control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516222" y="3364992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Celgene/BMY blocked as fixed_consideration_no_shareholder_election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14400" y="3648456"/>
            <a:ext cx="1037844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7552" y="3749040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Election/proration readiness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516222" y="3749040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Andeavor/MPC has menu, caps, formula, default rule, prices, passive block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14400" y="4032504"/>
            <a:ext cx="10378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7552" y="4133088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Trade-entry discipline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516222" y="4133088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Final allocation is kept as label; not used as an entry-time feature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4416552"/>
            <a:ext cx="1037844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7552" y="4517136"/>
            <a:ext cx="34006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Missing data behavior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516222" y="4517136"/>
            <a:ext cx="672175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Raw election demand marked unavailable rather than fabricated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6 — Payoff engine prices both election choices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SEC fields provide legal terms; WRDS fields provide prices.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9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C = $152.27, r = 1.87, P_A = $74.91, P_T = $138.32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10312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26771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Menu values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V_cash = C = $152.27;  V_stock = r × P_A = $140.08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288036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04495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Favored election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301752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argmax(V_cash, V_stock) = cash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3657600"/>
            <a:ext cx="10378440" cy="530352"/>
          </a:xfrm>
          <a:prstGeom prst="roundRect">
            <a:avLst>
              <a:gd name="adj" fmla="val 862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Pre-proration spread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3794760"/>
            <a:ext cx="7543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$152.27 − $138.32 = $13.95 per ANDV share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0" y="48920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48840" y="513892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15A"/>
                </a:solidFill>
              </a:rPr>
              <a:t>This is the first point where SEC legal fields and WRDS pricing data become one trade-entry value.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7 — Proration model converts demand into EV and alpha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smoke test uses simple v1 assumptions so the full data loop can be verified first.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10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1065276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389888"/>
            <a:ext cx="2854757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Calculation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833165" y="1389888"/>
            <a:ext cx="7541971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Smoke-test output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7240" y="1664208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1764792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Passive block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833165" y="1764792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 = 17.7%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7240" y="2048256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148840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Predicted cash demand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833165" y="2148840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D_cash = (1 − p) × 85% + p × 10% = 71.7%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7240" y="2432304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532888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Cash fill rate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833165" y="2532888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f_cash = min(1, 15.0% / 71.7%) = 20.9%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7240" y="2816352"/>
            <a:ext cx="106527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2916936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Expected value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833165" y="2916936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EV = 20.9% × $152.27 + 79.1% × $140.08 = $142.63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3200400"/>
            <a:ext cx="10652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0392" y="3300984"/>
            <a:ext cx="2854757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Net alpha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833165" y="3300984"/>
            <a:ext cx="7541971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$142.63 − $138.32 − 10bp cost = $4.17 per share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68680" y="5532120"/>
            <a:ext cx="9692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V1 constants: borrow cost = 0; borrow availability = 1; short interest = 0.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Step 8 — Strategy row and output files are generated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" y="92354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output is auditable from raw files to final prediction.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11 / 15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72821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Strategy 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29968"/>
            <a:ext cx="3291840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+1.000 ANDV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Elect cash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−1.479 MPC hedge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Signal: paper trade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754880" y="1481328"/>
            <a:ext cx="6629400" cy="384048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28032" y="1591056"/>
            <a:ext cx="272262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Output file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678674" y="1591056"/>
            <a:ext cx="365074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Purpose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754880" y="1865376"/>
            <a:ext cx="6629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965960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model_input_panel.csv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78674" y="1965960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Merged legal, ownership, and market event row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54880" y="2249424"/>
            <a:ext cx="66294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350008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variable_coverage_report.csv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678674" y="2350008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Available / missing / assumed status by field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54880" y="2633472"/>
            <a:ext cx="6629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734056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election_model_predictions.csv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78674" y="2734056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Predicted demand, fill rate, EV, alpha, hedge ratio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662940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28032" y="3118104"/>
            <a:ext cx="272262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model_run_summary.json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678674" y="3118104"/>
            <a:ext cx="365074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</a:rPr>
              <a:t>Run-level counts and diagnostics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7240" y="37947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0507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15A"/>
                </a:solidFill>
              </a:rPr>
              <a:t>What this establishes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37560" y="405079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The codebase can move from filings and WRDS tables to a model-ready event row without manual spreadsheet construction.</a:t>
            </a:r>
            <a:endParaRPr lang="en-US" sz="12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15A"/>
          </a:solidFill>
          <a:ln w="12700">
            <a:solidFill>
              <a:srgbClr val="143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15A"/>
                </a:solidFill>
              </a:rPr>
              <a:t>Mentor discussion and next implementation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JPM Project 3ii · Weekly workflow validation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475569"/>
                </a:solidFill>
              </a:rPr>
              <a:t>15 / 15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96112" y="1389888"/>
            <a:ext cx="280355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Next step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827678" y="1389888"/>
            <a:ext cx="741029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FFFFFF"/>
                </a:solidFill>
              </a:rPr>
              <a:t>Implementation detail</a:t>
            </a:r>
            <a:endParaRPr lang="en-US" sz="890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Complete full-universe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Batch Claude run over the ~283 deals under a fixed cost cap; measure the realized-label capture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Build the modeling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97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Join WRDS market + ETF/passive ownership onto each event; assemble one row per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Fit p_active(spread)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Calibrate active-investor cash-election propensity from the realized-demand labels vs. the deadline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Choose deliverable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34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ptos"/>
              </a:rPr>
              <a:t>Large-N regression if capture is high; structural framework + case studies if issuer disclosure limits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4546A"/>
                </a:solidFill>
                <a:latin typeface="Aptos"/>
              </a:rPr>
              <a:t>Mentor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0352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222222"/>
                </a:solidFill>
                <a:latin typeface="Aptos"/>
              </a:rPr>
              <a:t>Is ~80% label capture (disclosure-bounded) sufficient, or should we prioritize the structural-model route?</a:t>
            </a:r>
            <a:r>
              <a:rPr lang="en-US" sz="1000" dirty="0">
                <a:solidFill>
                  <a:srgbClr val="222222"/>
                </a:solidFill>
                <a:latin typeface="Aptos"/>
              </a:rPr>
              <a:t> </a:t>
            </a:r>
            <a:r>
              <a:rPr lang="en-US" sz="1000" dirty="0">
                <a:solidFill>
                  <a:srgbClr val="222222"/>
                </a:solidFill>
                <a:highlight>
                  <a:srgbClr val="FFFF00"/>
                </a:highlight>
                <a:latin typeface="Aptos"/>
              </a:rPr>
              <a:t>We are considering exploring Canda transactions, but their API may potentially be more difficult to work with.</a:t>
            </a:r>
            <a:endParaRPr sz="1000" dirty="0">
              <a:solidFill>
                <a:srgbClr val="222222"/>
              </a:solidFill>
              <a:highlight>
                <a:srgbClr val="FFFF00"/>
              </a:highlight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6457</TotalTime>
  <Words>2360</Words>
  <Application>Microsoft Macintosh PowerPoint</Application>
  <PresentationFormat>Widescreen</PresentationFormat>
  <Paragraphs>369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JPM Project 3ii Mentor Update</dc:title>
  <dc:subject>JPM Project 3ii weekly update</dc:subject>
  <dc:creator>Xiangyu Wang</dc:creator>
  <cp:lastModifiedBy>Alvin Yu</cp:lastModifiedBy>
  <cp:revision>10</cp:revision>
  <dcterms:created xsi:type="dcterms:W3CDTF">2026-06-26T18:48:15Z</dcterms:created>
  <dcterms:modified xsi:type="dcterms:W3CDTF">2026-07-21T22:02:33Z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960AB006C5CC313B58C93E6AFE06DBCA_42</vt:lpwstr>
  </property>
  <property fmtid="{D5CDD505-2E9C-101B-9397-08002B2CF9AE}" pid="3" name="KSOProductBuildVer">
    <vt:lpwstr>2052-7.3.1.8967</vt:lpwstr>
  </property>
</Properties>
</file>