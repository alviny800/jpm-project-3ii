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e7ec602cd04ce4" /><Relationship Type="http://schemas.openxmlformats.org/officeDocument/2006/relationships/extended-properties" Target="/docProps/app.xml" Id="R04c20bd3116342df" /><Relationship Type="http://schemas.openxmlformats.org/officeDocument/2006/relationships/officeDocument" Target="/ppt/presentation.xml" Id="Rd9e77c8993624b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8b4a72de274482"/>
  </p:sldMasterIdLst>
  <p:notesMasterIdLst>
    <p:notesMasterId xmlns:r="http://schemas.openxmlformats.org/officeDocument/2006/relationships" r:id="R33c6c8b59d45430c"/>
  </p:notesMasterIdLst>
  <p:sldIdLst>
    <p:sldId xmlns:r="http://schemas.openxmlformats.org/officeDocument/2006/relationships" id="256" r:id="R1fe1c58a300740cd"/>
    <p:sldId xmlns:r="http://schemas.openxmlformats.org/officeDocument/2006/relationships" id="257" r:id="R737a447a91ec43d9"/>
    <p:sldId xmlns:r="http://schemas.openxmlformats.org/officeDocument/2006/relationships" id="258" r:id="R043f8ab7d13b4f4e"/>
    <p:sldId xmlns:r="http://schemas.openxmlformats.org/officeDocument/2006/relationships" id="259" r:id="Ra4e82c70f3734bd0"/>
    <p:sldId xmlns:r="http://schemas.openxmlformats.org/officeDocument/2006/relationships" id="260" r:id="R4759e544e98e4392"/>
    <p:sldId xmlns:r="http://schemas.openxmlformats.org/officeDocument/2006/relationships" id="261" r:id="Re883e3b82580433a"/>
    <p:sldId xmlns:r="http://schemas.openxmlformats.org/officeDocument/2006/relationships" id="262" r:id="Ra78db00d65a2499b"/>
    <p:sldId xmlns:r="http://schemas.openxmlformats.org/officeDocument/2006/relationships" id="263" r:id="Rc9c2ec649f6b469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f6e47782d441f" /><Relationship Type="http://schemas.openxmlformats.org/officeDocument/2006/relationships/slideMaster" Target="/ppt/slideMasters/slideMaster1.xml" Id="Reb8b4a72de274482" /><Relationship Type="http://schemas.openxmlformats.org/officeDocument/2006/relationships/notesMaster" Target="/ppt/notesMasters/notesMaster1.xml" Id="R33c6c8b59d45430c" /><Relationship Type="http://schemas.openxmlformats.org/officeDocument/2006/relationships/presProps" Target="/ppt/presProps.xml" Id="R486a6ea5fb514fbb" /><Relationship Type="http://schemas.openxmlformats.org/officeDocument/2006/relationships/tableStyles" Target="/ppt/tableStyles.xml" Id="R1c837eea3f384a3c" /><Relationship Type="http://schemas.openxmlformats.org/officeDocument/2006/relationships/slide" Target="/ppt/slides/slide1.xml" Id="R1fe1c58a300740cd" /><Relationship Type="http://schemas.openxmlformats.org/officeDocument/2006/relationships/slide" Target="/ppt/slides/slide2.xml" Id="R737a447a91ec43d9" /><Relationship Type="http://schemas.openxmlformats.org/officeDocument/2006/relationships/slide" Target="/ppt/slides/slide3.xml" Id="R043f8ab7d13b4f4e" /><Relationship Type="http://schemas.openxmlformats.org/officeDocument/2006/relationships/slide" Target="/ppt/slides/slide4.xml" Id="Ra4e82c70f3734bd0" /><Relationship Type="http://schemas.openxmlformats.org/officeDocument/2006/relationships/slide" Target="/ppt/slides/slide5.xml" Id="R4759e544e98e4392" /><Relationship Type="http://schemas.openxmlformats.org/officeDocument/2006/relationships/slide" Target="/ppt/slides/slide6.xml" Id="Re883e3b82580433a" /><Relationship Type="http://schemas.openxmlformats.org/officeDocument/2006/relationships/slide" Target="/ppt/slides/slide7.xml" Id="Ra78db00d65a2499b" /><Relationship Type="http://schemas.openxmlformats.org/officeDocument/2006/relationships/slide" Target="/ppt/slides/slide8.xml" Id="Rc9c2ec649f6b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6ebf993c3243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a8064e75e3497c" /><Relationship Type="http://schemas.openxmlformats.org/officeDocument/2006/relationships/notesMaster" Target="/ppt/notesMasters/notesMaster1.xml" Id="R585f1b665aa54f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6c66723c4545cb" /><Relationship Type="http://schemas.openxmlformats.org/officeDocument/2006/relationships/notesMaster" Target="/ppt/notesMasters/notesMaster1.xml" Id="Rfe75f7de33d74e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13dbe459084386" /><Relationship Type="http://schemas.openxmlformats.org/officeDocument/2006/relationships/notesMaster" Target="/ppt/notesMasters/notesMaster1.xml" Id="Rf58065fc305c40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d52bbda8544ce0" /><Relationship Type="http://schemas.openxmlformats.org/officeDocument/2006/relationships/notesMaster" Target="/ppt/notesMasters/notesMaster1.xml" Id="R71e09baaa9af45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afda8007bb49b6" /><Relationship Type="http://schemas.openxmlformats.org/officeDocument/2006/relationships/notesMaster" Target="/ppt/notesMasters/notesMaster1.xml" Id="R05830ae5a79d4f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9ecbb6fc9421f" /><Relationship Type="http://schemas.openxmlformats.org/officeDocument/2006/relationships/notesMaster" Target="/ppt/notesMasters/notesMaster1.xml" Id="R0be6e7963e2c4a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1a6697ae304c01" /><Relationship Type="http://schemas.openxmlformats.org/officeDocument/2006/relationships/notesMaster" Target="/ppt/notesMasters/notesMaster1.xml" Id="R7e291a39bcde49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f12dc0e3df44cc" /><Relationship Type="http://schemas.openxmlformats.org/officeDocument/2006/relationships/notesMaster" Target="/ppt/notesMasters/notesMaster1.xml" Id="R415508e92fda42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ba472a4c240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8c24b9d8a4147" /><Relationship Type="http://schemas.openxmlformats.org/officeDocument/2006/relationships/slideLayout" Target="/ppt/slideLayouts/slideLayout1.xml" Id="R56351bd4fe354c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51bd4fe354c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ea8228ad346d4" /><Relationship Type="http://schemas.openxmlformats.org/officeDocument/2006/relationships/notesSlide" Target="/ppt/notesSlides/notesSlide1.xml" Id="Rbfb719de7915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6913d93e44d3a" /><Relationship Type="http://schemas.openxmlformats.org/officeDocument/2006/relationships/chart" Target="/ppt/slides/charts/chart1.xml" Id="R420c26c9f0eb4bc3" /><Relationship Type="http://schemas.openxmlformats.org/officeDocument/2006/relationships/notesSlide" Target="/ppt/notesSlides/notesSlide2.xml" Id="R27de2ed536d044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54fa9d6524d90" /><Relationship Type="http://schemas.openxmlformats.org/officeDocument/2006/relationships/chart" Target="/ppt/slides/charts/chart2.xml" Id="Rd72b011d681145a9" /><Relationship Type="http://schemas.openxmlformats.org/officeDocument/2006/relationships/notesSlide" Target="/ppt/notesSlides/notesSlide3.xml" Id="R1d46623d0fb346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e7c8537034824" /><Relationship Type="http://schemas.openxmlformats.org/officeDocument/2006/relationships/chart" Target="/ppt/slides/charts/chart3.xml" Id="Rf91ce4c3b8904b4e" /><Relationship Type="http://schemas.openxmlformats.org/officeDocument/2006/relationships/chart" Target="/ppt/slides/charts/chart4.xml" Id="Rc289a89dab094483" /><Relationship Type="http://schemas.openxmlformats.org/officeDocument/2006/relationships/notesSlide" Target="/ppt/notesSlides/notesSlide4.xml" Id="Rd90cc736c94449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e246aa7ee4d22" /><Relationship Type="http://schemas.openxmlformats.org/officeDocument/2006/relationships/chart" Target="/ppt/slides/charts/chart5.xml" Id="R4e9fc84189fe41c4" /><Relationship Type="http://schemas.openxmlformats.org/officeDocument/2006/relationships/notesSlide" Target="/ppt/notesSlides/notesSlide5.xml" Id="Rad71440e66cd4b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b31619ec54ba5" /><Relationship Type="http://schemas.openxmlformats.org/officeDocument/2006/relationships/chart" Target="/ppt/slides/charts/chart6.xml" Id="Rdd269b95f0b643ce" /><Relationship Type="http://schemas.openxmlformats.org/officeDocument/2006/relationships/notesSlide" Target="/ppt/notesSlides/notesSlide6.xml" Id="R24e36a9f5a22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f93d66c6748b8" /><Relationship Type="http://schemas.openxmlformats.org/officeDocument/2006/relationships/chart" Target="/ppt/slides/charts/chart7.xml" Id="R03c398d425a34da6" /><Relationship Type="http://schemas.openxmlformats.org/officeDocument/2006/relationships/notesSlide" Target="/ppt/notesSlides/notesSlide7.xml" Id="R57224f3faefa43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e7c612cd54702" /><Relationship Type="http://schemas.openxmlformats.org/officeDocument/2006/relationships/notesSlide" Target="/ppt/notesSlides/notesSlide8.xml" Id="Raed56facfc114a44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11111"/>
                </a:solidFill>
              </a:rPr>
              <a:t>Signal count by final decision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11111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Deals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ENTER</c:v>
              </c:pt>
              <c:pt idx="1">
                <c:v>REVERSE</c:v>
              </c:pt>
              <c:pt idx="2">
                <c:v>REVIEW</c:v>
              </c:pt>
              <c:pt idx="3">
                <c:v>PASS</c:v>
              </c:pt>
            </c:strLit>
          </c:cat>
          <c:val>
            <c:numLit>
              <c:formatCode>0</c:formatCode>
              <c:ptCount val="4"/>
              <c:pt idx="0">
                <c:v>41</c:v>
              </c:pt>
              <c:pt idx="1">
                <c:v>20</c:v>
              </c:pt>
              <c:pt idx="2">
                <c:v>15</c:v>
              </c:pt>
              <c:pt idx="3">
                <c:v>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5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11111"/>
                </a:solidFill>
              </a:rPr>
              <a:t>PnL contribution by signal type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11111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Expected PnL ($M)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ENTER</c:v>
              </c:pt>
              <c:pt idx="1">
                <c:v>REVERSE</c:v>
              </c:pt>
            </c:strLit>
          </c:cat>
          <c:val>
            <c:numLit>
              <c:formatCode>$0M</c:formatCode>
              <c:ptCount val="2"/>
              <c:pt idx="0">
                <c:v>4.1</c:v>
              </c:pt>
              <c:pt idx="1">
                <c:v>119.1</c:v>
              </c:pt>
            </c:numLit>
          </c:val>
        </c:ser>
        <c:ser>
          <c:idx val="1"/>
          <c:order val="1"/>
          <c:tx>
            <c:v>Realized PnL ($M)</c:v>
          </c:tx>
          <c:spPr>
            <a:solidFill xmlns:a="http://schemas.openxmlformats.org/drawingml/2006/main">
              <a:srgbClr val="17A673"/>
            </a:solidFill>
          </c:spPr>
          <c:cat>
            <c:strLit>
              <c:ptCount val="2"/>
              <c:pt idx="0">
                <c:v>ENTER</c:v>
              </c:pt>
              <c:pt idx="1">
                <c:v>REVERSE</c:v>
              </c:pt>
            </c:strLit>
          </c:cat>
          <c:val>
            <c:numLit>
              <c:formatCode>$0M</c:formatCode>
              <c:ptCount val="2"/>
              <c:pt idx="0">
                <c:v>5.6</c:v>
              </c:pt>
              <c:pt idx="1">
                <c:v>22.9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5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$0M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11111"/>
                </a:solidFill>
              </a:rPr>
              <a:t>Capacity-sized notional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11111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Total notional ($M)</c:v>
          </c:tx>
          <c:spPr>
            <a:solidFill xmlns:a="http://schemas.openxmlformats.org/drawingml/2006/main">
              <a:srgbClr val="7B61FF"/>
            </a:solidFill>
          </c:spPr>
          <c:cat>
            <c:strLit>
              <c:ptCount val="2"/>
              <c:pt idx="0">
                <c:v>ENTER</c:v>
              </c:pt>
              <c:pt idx="1">
                <c:v>REVERSE</c:v>
              </c:pt>
            </c:strLit>
          </c:cat>
          <c:val>
            <c:numLit>
              <c:formatCode>$0M</c:formatCode>
              <c:ptCount val="2"/>
              <c:pt idx="0">
                <c:v>92.2</c:v>
              </c:pt>
              <c:pt idx="1">
                <c:v>852.1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5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$0M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11111"/>
                </a:solidFill>
              </a:rPr>
              <a:t>Median position as % of shares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11111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Median ownership (pp)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2"/>
              <c:pt idx="0">
                <c:v>ENTER</c:v>
              </c:pt>
              <c:pt idx="1">
                <c:v>REVERSE</c:v>
              </c:pt>
            </c:strLit>
          </c:cat>
          <c:val>
            <c:numLit>
              <c:formatCode>0.0</c:formatCode>
              <c:ptCount val="2"/>
              <c:pt idx="0">
                <c:v>0.3</c:v>
              </c:pt>
              <c:pt idx="1">
                <c:v>1.06</c:v>
              </c:pt>
            </c:numLit>
          </c:val>
        </c:ser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5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11111"/>
                </a:solidFill>
              </a:rPr>
              <a:t>Binding constraint count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11111"/>
              </a:solidFill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source supply</c:v>
              </c:pt>
              <c:pt idx="1">
                <c:v>noisy buyer</c:v>
              </c:pt>
              <c:pt idx="2">
                <c:v>ADV</c:v>
              </c:pt>
            </c:strLit>
          </c:cat>
          <c:val>
            <c:numLit>
              <c:formatCode>General</c:formatCode>
              <c:ptCount val="3"/>
              <c:pt idx="0">
                <c:v>38</c:v>
              </c:pt>
              <c:pt idx="1">
                <c:v>20</c:v>
              </c:pt>
              <c:pt idx="2">
                <c:v>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5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4B5563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11111"/>
                </a:solidFill>
              </a:rPr>
              <a:t>Median holder assumptions after rolling fit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11111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Static</c:v>
          </c:tx>
          <c:spPr>
            <a:solidFill xmlns:a="http://schemas.openxmlformats.org/drawingml/2006/main">
              <a:srgbClr val="AEB5C0"/>
            </a:solidFill>
          </c:spPr>
          <c:cat>
            <c:strLit>
              <c:ptCount val="3"/>
              <c:pt idx="0">
                <c:v>Noisy holders</c:v>
              </c:pt>
              <c:pt idx="1">
                <c:v>Positive/active</c:v>
              </c:pt>
              <c:pt idx="2">
                <c:v>Noisy cash prob</c:v>
              </c:pt>
            </c:strLit>
          </c:cat>
          <c:val>
            <c:numLit>
              <c:formatCode>0</c:formatCode>
              <c:ptCount val="3"/>
              <c:pt idx="0">
                <c:v>63.6</c:v>
              </c:pt>
              <c:pt idx="1">
                <c:v>35</c:v>
              </c:pt>
              <c:pt idx="2">
                <c:v>50</c:v>
              </c:pt>
            </c:numLit>
          </c:val>
        </c:ser>
        <c:ser>
          <c:idx val="1"/>
          <c:order val="1"/>
          <c:tx>
            <c:v>Rolling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Noisy holders</c:v>
              </c:pt>
              <c:pt idx="1">
                <c:v>Positive/active</c:v>
              </c:pt>
              <c:pt idx="2">
                <c:v>Noisy cash prob</c:v>
              </c:pt>
            </c:strLit>
          </c:cat>
          <c:val>
            <c:numLit>
              <c:formatCode>0</c:formatCode>
              <c:ptCount val="3"/>
              <c:pt idx="0">
                <c:v>85.7</c:v>
              </c:pt>
              <c:pt idx="1">
                <c:v>10</c:v>
              </c:pt>
              <c:pt idx="2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5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5B64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111111"/>
                </a:solidFill>
              </a:rPr>
              <a:t>Realized PnL under two payoff views</a:t>
            </a:r>
          </a:p>
        </c:rich>
      </c:tx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111111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Realized PnL ($M)</c:v>
          </c:tx>
          <c:spPr>
            <a:solidFill xmlns:a="http://schemas.openxmlformats.org/drawingml/2006/main">
              <a:srgbClr val="17A673"/>
            </a:solidFill>
          </c:spPr>
          <c:cat>
            <c:strLit>
              <c:ptCount val="2"/>
              <c:pt idx="0">
                <c:v>Baseline</c:v>
              </c:pt>
              <c:pt idx="1">
                <c:v>Self-impact</c:v>
              </c:pt>
            </c:strLit>
          </c:cat>
          <c:val>
            <c:numLit>
              <c:formatCode>$0.0M</c:formatCode>
              <c:ptCount val="2"/>
              <c:pt idx="0">
                <c:v>28.549370194399994</c:v>
              </c:pt>
              <c:pt idx="1">
                <c:v>28.5427069123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5E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8EC"/>
              </a:solidFill>
              <a:prstDash val="solid"/>
            </a:ln>
          </c:spPr>
        </c:majorGridlines>
        <c:numFmt formatCode="$0.0M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B6472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9FC61-74EB-4547-B07F-B1F565E2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Risk-aware election arbitrage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7412E-4836-4114-9198-2E435B27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</a:defRPr>
            </a:pPr>
            <a:r>
              <a:rPr sz="1650" b="0">
                <a:solidFill>
                  <a:srgbClr val="5B6472"/>
                </a:solidFill>
              </a:rPr>
              <a:t>Output EDA after adding deal outcome probabilities, reverse trades, capacity, self-impact, and rolling holder composition.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6D6CD-769C-4190-8DB8-BD1B89B2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FABCC-AAAA-4814-A0A5-4EC8B240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83868-A886-4C46-A0D4-9E63A7F9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priced deals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2C952-8993-461A-8604-15A5F74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432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0006A8-35F3-426A-8B9F-F7CB3B59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A673"/>
                </a:solidFill>
              </a:defRPr>
            </a:pPr>
            <a:r>
              <a:rPr sz="2550" b="1">
                <a:solidFill>
                  <a:srgbClr val="17A673"/>
                </a:solidFill>
              </a:rPr>
              <a:t>61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0B400-862A-4587-BC24-68B31782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29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trades sized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97BCD-522E-46F5-9BDC-284FEC8C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AB629-D888-4D2B-BF28-13611122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FF"/>
                </a:solidFill>
              </a:defRPr>
            </a:pPr>
            <a:r>
              <a:rPr sz="2550" b="1">
                <a:solidFill>
                  <a:srgbClr val="7B61FF"/>
                </a:solidFill>
              </a:rPr>
              <a:t>$944.3M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0EA631-23DC-4D7E-8302-6C44EBF4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optimal notional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25692-2EE0-45E6-BDF3-CE775B22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6D5612-36E9-40AF-9F98-13E1A48F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337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$123.2M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1F2037-724A-4E57-B726-75D18C1A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290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expected PnL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46E59-7850-477C-843E-FDB9D3CB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Current run: rolling structural holder model, risk-aware signal gate, and capacity-aware long/reverse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0E05C-B35C-4EAB-9F28-45D34F3E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20074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C95C6-8777-4EC7-82F3-0E51AD84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The signal gate trades most priced deals, but review remains economically important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3F5E4-7D01-4A5C-BB7D-03C9C26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Signals use completion risk, downside tails, and extreme return guards rather than pure EV.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10ACE-5FC2-45E3-AC1D-CBC77AE0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JPM Project 3ii | Risk-aware election arbitrage EDA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800100" y="1676400"/>
          <a:ext xmlns:a="http://schemas.openxmlformats.org/drawingml/2006/main" cx="5048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0c26c9f0eb4bc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739C6-6AC7-4291-9DF6-978048F6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0CE66-829C-42E8-9545-0273223A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A673"/>
                </a:solidFill>
              </a:defRPr>
            </a:pPr>
            <a:r>
              <a:rPr sz="2550" b="1">
                <a:solidFill>
                  <a:srgbClr val="17A673"/>
                </a:solidFill>
              </a:rPr>
              <a:t>69.3%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F01473-1A93-4D27-BC6C-F849EFB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trade rate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AD0868-9C24-4FC3-8EDA-5100D0A3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219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00063-146A-441B-ADE1-418C0281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9A2B"/>
                </a:solidFill>
              </a:defRPr>
            </a:pPr>
            <a:r>
              <a:rPr sz="2550" b="1">
                <a:solidFill>
                  <a:srgbClr val="D79A2B"/>
                </a:solidFill>
              </a:rPr>
              <a:t>15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6D63A-B8AD-4E95-88CE-888D633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05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review rows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538D8-9563-47B2-9322-31B0426F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4648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CB9D1-FED5-471B-AE3E-2BC3E0FF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57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Threshold read-through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897FA-A1EC-4F32-848D-8D973E1D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62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BC5DF5-86ED-407A-8894-372D9E79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957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REVIEW protects against unusually large completion or election returns.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04A69-7999-4D4F-878B-12257205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71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5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BD4715-300B-49FB-8DCB-48ED81F4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052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PASS is mostly loss-probability and lower-tail filtering.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B186A-A5ED-467E-AD27-9DA4EAC6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81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D4853-1182-486F-9634-B57E2AF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148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Profitable REVIEW rows suggest a secondary calibration step.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AD590-2B8A-42DD-80E9-1EB58B7D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67666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51A978-CCA6-4BEE-AD79-728C4DE1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Expected PnL is dominated by reverse trades; realized PnL is positive but lower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19469-5F39-4C5B-A62D-AC0A84B6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Expected economics are strong; realized coverage shows the delivered return gap.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C72D1-53D2-4E93-B2A3-DBCD6233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JPM Project 3ii | Risk-aware election arbitrage EDA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4953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2b011d681145a9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A0865-4741-4E44-970D-924D2433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6DC9F-969D-4DC3-9392-EA5D914F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13.0%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3F24A-E90D-47EB-80AE-1804F66F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weighted expected return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01A03-A1B6-41C6-9718-523BB82F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8115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741A1-EB0E-403C-B695-91603E0E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716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A673"/>
                </a:solidFill>
              </a:defRPr>
            </a:pPr>
            <a:r>
              <a:rPr sz="2550" b="1">
                <a:solidFill>
                  <a:srgbClr val="17A673"/>
                </a:solidFill>
              </a:rPr>
              <a:t>3.12%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03A68-5FAC-4C93-AC76-9963A613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669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realized return on covered notional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075BF-33F2-4636-91A0-62C9F423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8610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5988F-8CEB-4ED9-AC16-E06C5AA1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76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85.7%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FD852-DE6A-4F23-88F9-C9553D01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hit rate on covered trades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E02E1-6AE4-4DC8-AC0A-BAA10E7D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2333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73EF5D-CACA-4423-B3AB-21472545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76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B59"/>
                </a:solidFill>
              </a:defRPr>
            </a:pPr>
            <a:r>
              <a:rPr sz="2550" b="1">
                <a:solidFill>
                  <a:srgbClr val="D95B59"/>
                </a:solidFill>
              </a:rPr>
              <a:t>$-5.8M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589231-7A9F-42A0-B258-20A364C4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71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wrong-trade drag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3EA59-EF03-4445-A73A-6D010ED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86200"/>
            <a:ext cx="1952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B818B"/>
                </a:solidFill>
              </a:defRPr>
            </a:pPr>
            <a:r>
              <a:rPr sz="900" b="0">
                <a:solidFill>
                  <a:srgbClr val="7B818B"/>
                </a:solidFill>
              </a:rPr>
              <a:t>5 wrong trades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B91F3-C9C6-4232-A824-0F195196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387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Expected-vs-realized correlation is 0.31, useful but still modest.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DE04F-0AF1-450C-A101-6D8EF2F3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50481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82883-83B5-4E3A-A801-451F9593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Capacity makes the strategy small in ownership terms, even with large notional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A445B-CCDE-4994-953A-68A4D4DC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Reverse trades drive notional, while median ownership stays near half a percent.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33D39-1F51-4E91-AC9B-BC389D94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JPM Project 3ii | Risk-aware election arbitrage EDA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47625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1ce4c3b8904b4e"/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981700" y="1562100"/>
          <a:ext xmlns:a="http://schemas.openxmlformats.org/drawingml/2006/main" cx="4762500" cy="3086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289a89dab09448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DDF89-068A-417A-83DB-08FB4919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Median trade size is $1.1M and median ownership is 0.52%. This is why self-impact exists in the model but stays small in realized PnL.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B4934-6DEB-4E14-98D8-B4BCC28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50683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E9FE1-7985-41C7-A0E8-38878623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The binding constraints are market-flow constraints, not total holder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4C339D-491D-4DCC-BE15-29F5D1E5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Holder inventory is large; source supply, ADV, and noisy buyer flow set trade size.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4A881-34DE-4E76-B2F4-D697A06F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JPM Project 3ii | Risk-aware election arbitrage EDA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81050" y="1600200"/>
          <a:ext xmlns:a="http://schemas.openxmlformats.org/drawingml/2006/main" cx="4857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9fc84189fe41c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80E49-E1EF-43A8-8145-D96AE4C7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562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65C55-11ED-4750-8AEA-9C52C8F7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526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FF"/>
                </a:solidFill>
              </a:defRPr>
            </a:pPr>
            <a:r>
              <a:rPr sz="2550" b="1">
                <a:solidFill>
                  <a:srgbClr val="7B61FF"/>
                </a:solidFill>
              </a:rPr>
              <a:t>85.7%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2CD58-122E-4580-B1E6-BEE5A97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median noisy holder pool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D15DB-B2B1-44A6-961D-5B393E58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562100"/>
            <a:ext cx="2381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1FED9-A272-4728-84EB-DD47D6FC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526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79A2B"/>
                </a:solidFill>
              </a:defRPr>
            </a:pPr>
            <a:r>
              <a:rPr sz="2550" b="1">
                <a:solidFill>
                  <a:srgbClr val="D79A2B"/>
                </a:solidFill>
              </a:rPr>
              <a:t>0.48%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D4B28-2D5B-480A-B4D5-132F95C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median tradable noisy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1314F-10BD-49E5-AF70-CE89B36A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9900"/>
            <a:ext cx="5048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0E061-5FAB-411B-BEFA-79EDA37A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004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Economic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75397-6C24-4E7A-82A2-31FE80B4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324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</a:defRPr>
            </a:pPr>
            <a:r>
              <a:rPr sz="1200" b="0">
                <a:solidFill>
                  <a:srgbClr val="5B6472"/>
                </a:solidFill>
              </a:rPr>
              <a:t>In 100% of trades, noisy holder inventory exceeds the noisy flow cap. More noisy holders therefore do not automatically create more capacity; the bottleneck is how much can trade inside the build window.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751C3-C693-42A3-B4D1-B7BC59EC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71536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CC7CD-AD04-4D76-A679-182C1EFD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The rolling holder model materially changes composition, but not the trade bottleneck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90F2-B1B5-4EE9-9D49-CEEAEB2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Rolling p/q uses prior realized elections instead of hard-coded active-holder shares.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6D0FD-65AD-4ED0-A4BA-C5A4ED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JPM Project 3ii | Risk-aware election arbitrage EDA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47700" y="1562100"/>
          <a:ext xmlns:a="http://schemas.openxmlformats.org/drawingml/2006/main" cx="4953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269b95f0b643ce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70754-FD0B-46CA-B52B-B953E092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621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81B5B-E77A-47E0-AB73-FB4EEFD8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0.30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A0E09-2EED-49F4-9FF2-972E8C4E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median p_hat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195985-2EC2-427F-A49F-5EB0FDBD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3393E-66D0-4A63-B4DC-3A8FFF60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FF"/>
                </a:solidFill>
              </a:defRPr>
            </a:pPr>
            <a:r>
              <a:rPr sz="2550" b="1">
                <a:solidFill>
                  <a:srgbClr val="7B61FF"/>
                </a:solidFill>
              </a:rPr>
              <a:t>0.10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C12D7-DAB5-4B6B-A510-0C3555AD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median q_hat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A092E-423E-4E1F-A4B3-3B729861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289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E3AF5-C275-4D7F-AB87-CF22F914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A673"/>
                </a:solidFill>
              </a:defRPr>
            </a:pPr>
            <a:r>
              <a:rPr sz="2550" b="1">
                <a:solidFill>
                  <a:srgbClr val="17A673"/>
                </a:solidFill>
              </a:rPr>
              <a:t>55/61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77F72B-62A6-4069-8903-F8005F3F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14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fit-backed trades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0164E-6149-47C2-85AB-3077A016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7A756-8FF4-43BB-9183-B38F14F9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194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09F26-DF2E-42B4-A3D3-42CE2732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median fit 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7155D-F3F9-43EB-A614-40B1267D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62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Composition now comes from revealed election behavior; the remaining static assumption is the tradable flow fraction inside the build window.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055115-5A7E-41FA-978E-B21D8FC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6036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38317-8083-4882-B89A-C8D6A920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Self-impact is modeled, but current positions are too small to move realized PnL much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ECA7F-E986-4F66-BCDA-494A7CD3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Self-impact changes realized PnL only slightly because capacity keeps positions small.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18775-3277-4596-9ED6-80BA5F76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JPM Project 3ii | Risk-aware election arbitrage EDA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04850" y="1638300"/>
          <a:ext xmlns:a="http://schemas.openxmlformats.org/drawingml/2006/main" cx="4762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c398d425a34da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06CA5-B6B4-4747-A3C3-F41CEB7E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5B8AF-0E66-49FC-9FDA-4F9A8F50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478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5B59"/>
                </a:solidFill>
              </a:defRPr>
            </a:pPr>
            <a:r>
              <a:rPr sz="2550" b="1">
                <a:solidFill>
                  <a:srgbClr val="D95B59"/>
                </a:solidFill>
              </a:rPr>
              <a:t>$-7K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A972D-2B36-4606-B9FA-DF4AEFEF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PnL delta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C67FE-33A7-4CD2-BE8A-BAB48335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57350"/>
            <a:ext cx="2286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B7EB0-75C5-4BFC-914F-839B2F15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478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DCBF4"/>
                </a:solidFill>
              </a:defRPr>
            </a:pPr>
            <a:r>
              <a:rPr sz="2550" b="1">
                <a:solidFill>
                  <a:srgbClr val="6DCBF4"/>
                </a:solidFill>
              </a:rPr>
              <a:t>0.52%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9D9BC-2F7E-4A69-AE97-8B6C4629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431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</a:defRPr>
            </a:pPr>
            <a:r>
              <a:rPr sz="1125" b="0">
                <a:solidFill>
                  <a:srgbClr val="5B6472"/>
                </a:solidFill>
              </a:rPr>
              <a:t>median ownership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E2A00-15B0-4D08-922E-DEF2F63F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105150"/>
            <a:ext cx="48768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D2859-8D2F-4F21-BFCE-3F3737F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956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Read-through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514E8A-EF44-4383-97CF-3DEBBA4B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76650"/>
            <a:ext cx="4171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The model should keep the self-impact branch, but the current result says capacity and liquidity assumptions matter more than proration feedback for this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08F64-5B8D-4737-8BC6-3EC6E8D3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67052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F2554-50C8-47DC-B53C-1CD900C6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The next improvement is estimating tradable flow, not only holder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2C57D-608D-4F3C-A54C-E711EF26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904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The strategy version is coherent, but the EDA points to one main modeling gap and two calibration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50C79-A1EE-486C-8BB7-231EF839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JPM Project 3ii | Risk-aware election arbitrage EDA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D1CA4-6FB6-47C4-B8A0-EBAF2D9A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20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51951-CDDF-4E58-B40D-B6603B1F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43050"/>
            <a:ext cx="320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EA6BB-C296-4ACF-B813-245C2777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43050"/>
            <a:ext cx="32004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D8DB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AC7CF-0BFF-419F-AB51-008C30A2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4F847D-1A2E-4A9D-8511-7DCA96C8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Estimate tradable noisy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AC5FB-5B8B-41DB-BDF3-1558892B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Rolling p/q changes holder stock. Capacity needs a separate estimate of who trades during the build window and at what ADV participation.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17B27-19E5-4490-A19F-176EBC2D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9A2B"/>
                </a:solidFill>
              </a:defRPr>
            </a:pPr>
            <a:r>
              <a:rPr sz="2250" b="1">
                <a:solidFill>
                  <a:srgbClr val="D79A2B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B67E6-202F-4BA9-AB43-66D0AB55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43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Calibrate REVIEW thresholds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5BA037-7A5A-47ED-83FB-3E4836B0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05150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REVIEW catches economically large cases. The bucket should be used for manual review or a secondary model, not treated as a dead zone.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381D7-751A-4FDE-827B-79BC6B0C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097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A673"/>
                </a:solidFill>
              </a:defRPr>
            </a:pPr>
            <a:r>
              <a:rPr sz="2250" b="1">
                <a:solidFill>
                  <a:srgbClr val="17A673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7837BE-B778-4AA9-B1A8-1D45E6D1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431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Stress reverse concentration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D0E6D-563C-4D86-B0E6-C00027F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05150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Reverse trades dominate notional and expected PnL. Borrow, buyer-demand, and outcome-risk stress tests should drive final sizing.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306E5-D90A-403B-9088-FA58D2AF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Bottom line: the pipeline is now economically layered; the remaining edge-quality question is whether market flow can be learned instead of imposed.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85FA5-80B3-4D33-B9B2-A72B1505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A9099"/>
                </a:solidFill>
              </a:defRPr>
            </a:pPr>
            <a:r>
              <a:rPr sz="825" b="0">
                <a:solidFill>
                  <a:srgbClr val="8A909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72698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2026-07-22T05:13:36.7360000Z</dcterms:created>
  <dcterms:modified xsi:type="dcterms:W3CDTF">2026-07-22T05:13:36.7360000Z</dcterms:modified>
</coreProperties>
</file>